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4196ea4-dbb4-5536-79fc-275ee4e3023b}">
          <p14:sldIdLst>
            <p14:sldId id="256"/>
          </p14:sldIdLst>
        </p14:section>
        <p14:section name="Problem and discovery" id="{81b4aa46-e673-4c30-be1c-7363162f0671}">
          <p14:sldIdLst>
            <p14:sldId id="257"/>
            <p14:sldId id="258"/>
            <p14:sldId id="259"/>
            <p14:sldId id="260"/>
          </p14:sldIdLst>
        </p14:section>
        <p14:section name="Opportunity and solution" id="{b08c03e8-bc5e-488f-a35f-73b39605e848}">
          <p14:sldIdLst>
            <p14:sldId id="261"/>
            <p14:sldId id="262"/>
          </p14:sldIdLst>
        </p14:section>
        <p14:section name="Walkthrough" id="{1db20706-5b45-c3ad-243a-221abd3fbdb5}">
          <p14:sldIdLst>
            <p14:sldId id="263"/>
            <p14:sldId id="264"/>
            <p14:sldId id="265"/>
          </p14:sldIdLst>
        </p14:section>
        <p14:section name="Metrics" id="{b18a3acf-ced0-cde1-881b-b06575cdf4f3}">
          <p14:sldIdLst>
            <p14:sldId id="266"/>
            <p14:sldId id="267"/>
            <p14:sldId id="268"/>
          </p14:sldIdLst>
        </p14:section>
        <p14:section name="Risks and rollout" id="{85a5b787-edfa-0c9d-1831-885f91609322}">
          <p14:sldIdLst>
            <p14:sldId id="269"/>
            <p14:sldId id="270"/>
          </p14:sldIdLst>
        </p14:section>
        <p14:section name="Close" id="{e05cce7a-d733-7a90-159d-b9db2fbc744c}">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424C"/>
                </a:solidFill>
                <a:latin typeface="+mn-lt"/>
              </a:defRPr>
            </a:pPr>
            <a:r>
              <a:rPr sz="1300" b="0" i="0" u="none" strike="noStrike">
                <a:solidFill>
                  <a:srgbClr val="14424C"/>
                </a:solidFill>
                <a:latin typeface="+mn-lt"/>
              </a:rPr>
              <a:t>Impact x feasibility score (max 25)</a:t>
            </a:r>
          </a:p>
        </c:rich>
      </c:tx>
      <c:layout/>
      <c:overlay val="0"/>
    </c:title>
    <c:autoTitleDeleted val="0"/>
    <c:plotArea>
      <c:layout/>
      <c:barChart>
        <c:barDir val="bar"/>
        <c:grouping val="stacked"/>
        <c:varyColors val="0"/>
        <c:ser>
          <c:idx val="0"/>
          <c:order val="0"/>
          <c:tx>
            <c:strRef>
              <c:f>Sheet1!$B$1</c:f>
              <c:strCache>
                <c:ptCount val="1"/>
                <c:pt idx="0">
                  <c:v>Do first (MVP)</c:v>
                </c:pt>
              </c:strCache>
            </c:strRef>
          </c:tx>
          <c:spPr>
            <a:solidFill>
              <a:srgbClr val="0F766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Sheet1!$A$2:$A$16</c:f>
              <c:multiLvlStrCache>
                <c:ptCount val="15"/>
                <c:lvl>
                  <c:pt idx="0">
                    <c:v>O11 Lead scoring</c:v>
                  </c:pt>
                  <c:pt idx="1">
                    <c:v>O15 Web enrichment</c:v>
                  </c:pt>
                  <c:pt idx="2">
                    <c:v>O14 Auto-answer questionnaires</c:v>
                  </c:pt>
                  <c:pt idx="3">
                    <c:v>O13 Auto-write SOWs</c:v>
                  </c:pt>
                  <c:pt idx="4">
                    <c:v>O12 Auto-send follow-ups</c:v>
                  </c:pt>
                  <c:pt idx="5">
                    <c:v>O9 Business-card scan</c:v>
                  </c:pt>
                  <c:pt idx="6">
                    <c:v>O7 Reply drafts</c:v>
                  </c:pt>
                  <c:pt idx="7">
                    <c:v>O8 Voice quick capture</c:v>
                  </c:pt>
                  <c:pt idx="8">
                    <c:v>O10 Pipeline review pack</c:v>
                  </c:pt>
                  <c:pt idx="9">
                    <c:v>O6 Revisit &amp; cross-sell radar</c:v>
                  </c:pt>
                  <c:pt idx="10">
                    <c:v>O5 Proposed CRM updates</c:v>
                  </c:pt>
                  <c:pt idx="11">
                    <c:v>O4 Draft new leads</c:v>
                  </c:pt>
                  <c:pt idx="12">
                    <c:v>O1 Link conversations to accounts</c:v>
                  </c:pt>
                  <c:pt idx="13">
                    <c:v>O3 Daily brief</c:v>
                  </c:pt>
                  <c:pt idx="14">
                    <c:v>O2 Commitment &amp; ask ledger</c:v>
                  </c:pt>
                </c:lvl>
              </c:multiLvlStrCache>
            </c:multiLvlStrRef>
          </c:cat>
          <c:val>
            <c:numRef>
              <c:f>Sheet1!$B$2:$B$16</c:f>
              <c:numCache>
                <c:formatCode>General</c:formatCode>
                <c:ptCount val="15"/>
                <c:pt idx="0">
                  <c:v>0</c:v>
                </c:pt>
                <c:pt idx="1">
                  <c:v>0</c:v>
                </c:pt>
                <c:pt idx="2">
                  <c:v>0</c:v>
                </c:pt>
                <c:pt idx="3">
                  <c:v>0</c:v>
                </c:pt>
                <c:pt idx="4">
                  <c:v>0</c:v>
                </c:pt>
                <c:pt idx="5">
                  <c:v>0</c:v>
                </c:pt>
                <c:pt idx="6">
                  <c:v>0</c:v>
                </c:pt>
                <c:pt idx="7">
                  <c:v>0</c:v>
                </c:pt>
                <c:pt idx="8">
                  <c:v>0</c:v>
                </c:pt>
                <c:pt idx="9">
                  <c:v>16</c:v>
                </c:pt>
                <c:pt idx="10">
                  <c:v>16</c:v>
                </c:pt>
                <c:pt idx="11">
                  <c:v>16</c:v>
                </c:pt>
                <c:pt idx="12">
                  <c:v>20</c:v>
                </c:pt>
                <c:pt idx="13">
                  <c:v>20</c:v>
                </c:pt>
                <c:pt idx="14">
                  <c:v>25</c:v>
                </c:pt>
              </c:numCache>
            </c:numRef>
          </c:val>
        </c:ser>
        <c:ser>
          <c:idx val="1"/>
          <c:order val="1"/>
          <c:tx>
            <c:strRef>
              <c:f>Sheet1!$C$1</c:f>
              <c:strCache>
                <c:ptCount val="1"/>
                <c:pt idx="0">
                  <c:v>Other</c:v>
                </c:pt>
              </c:strCache>
            </c:strRef>
          </c:tx>
          <c:spPr>
            <a:solidFill>
              <a:srgbClr val="B9C7C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Sheet1!$A$2:$A$16</c:f>
              <c:multiLvlStrCache>
                <c:ptCount val="15"/>
                <c:lvl>
                  <c:pt idx="0">
                    <c:v>O11 Lead scoring</c:v>
                  </c:pt>
                  <c:pt idx="1">
                    <c:v>O15 Web enrichment</c:v>
                  </c:pt>
                  <c:pt idx="2">
                    <c:v>O14 Auto-answer questionnaires</c:v>
                  </c:pt>
                  <c:pt idx="3">
                    <c:v>O13 Auto-write SOWs</c:v>
                  </c:pt>
                  <c:pt idx="4">
                    <c:v>O12 Auto-send follow-ups</c:v>
                  </c:pt>
                  <c:pt idx="5">
                    <c:v>O9 Business-card scan</c:v>
                  </c:pt>
                  <c:pt idx="6">
                    <c:v>O7 Reply drafts</c:v>
                  </c:pt>
                  <c:pt idx="7">
                    <c:v>O8 Voice quick capture</c:v>
                  </c:pt>
                  <c:pt idx="8">
                    <c:v>O10 Pipeline review pack</c:v>
                  </c:pt>
                  <c:pt idx="9">
                    <c:v>O6 Revisit &amp; cross-sell radar</c:v>
                  </c:pt>
                  <c:pt idx="10">
                    <c:v>O5 Proposed CRM updates</c:v>
                  </c:pt>
                  <c:pt idx="11">
                    <c:v>O4 Draft new leads</c:v>
                  </c:pt>
                  <c:pt idx="12">
                    <c:v>O1 Link conversations to accounts</c:v>
                  </c:pt>
                  <c:pt idx="13">
                    <c:v>O3 Daily brief</c:v>
                  </c:pt>
                  <c:pt idx="14">
                    <c:v>O2 Commitment &amp; ask ledger</c:v>
                  </c:pt>
                </c:lvl>
              </c:multiLvlStrCache>
            </c:multiLvlStrRef>
          </c:cat>
          <c:val>
            <c:numRef>
              <c:f>Sheet1!$C$2:$C$16</c:f>
              <c:numCache>
                <c:formatCode>General</c:formatCode>
                <c:ptCount val="15"/>
                <c:pt idx="0">
                  <c:v>2</c:v>
                </c:pt>
                <c:pt idx="1">
                  <c:v>4</c:v>
                </c:pt>
                <c:pt idx="2">
                  <c:v>6</c:v>
                </c:pt>
                <c:pt idx="3">
                  <c:v>6</c:v>
                </c:pt>
                <c:pt idx="4">
                  <c:v>6</c:v>
                </c:pt>
                <c:pt idx="5">
                  <c:v>9</c:v>
                </c:pt>
                <c:pt idx="6">
                  <c:v>12</c:v>
                </c:pt>
                <c:pt idx="7">
                  <c:v>12</c:v>
                </c:pt>
                <c:pt idx="8">
                  <c:v>15</c:v>
                </c:pt>
                <c:pt idx="9">
                  <c:v>0</c:v>
                </c:pt>
                <c:pt idx="10">
                  <c:v>0</c:v>
                </c:pt>
                <c:pt idx="11">
                  <c:v>0</c:v>
                </c:pt>
                <c:pt idx="12">
                  <c:v>0</c:v>
                </c:pt>
                <c:pt idx="13">
                  <c:v>0</c:v>
                </c:pt>
                <c:pt idx="14">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D2B30"/>
                </a:solidFill>
                <a:latin typeface="+mn-lt"/>
              </a:defRPr>
            </a:pPr>
            <a:endParaRPr lang="en-US"/>
          </a:p>
        </c:txPr>
        <c:crossAx val="2094734552"/>
        <c:crosses val="autoZero"/>
        <c:auto val="1"/>
        <c:lblAlgn val="ctr"/>
        <c:noMultiLvlLbl val="1"/>
      </c:catAx>
      <c:valAx>
        <c:axId val="2094734552"/>
        <c:scaling>
          <c:orientation val="minMax"/>
          <c:max val="25"/>
        </c:scaling>
        <c:delete val="0"/>
        <c:axPos val="b"/>
        <c:majorGridlines>
          <c:spPr>
            <a:ln w="6350" cap="flat">
              <a:solidFill>
                <a:srgbClr val="E3E9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7C99"/>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424C"/>
                </a:solidFill>
                <a:latin typeface="+mn-lt"/>
              </a:defRPr>
            </a:pPr>
            <a:r>
              <a:rPr sz="1300" b="0" i="0" u="none" strike="noStrike">
                <a:solidFill>
                  <a:srgbClr val="14424C"/>
                </a:solidFill>
                <a:latin typeface="+mn-lt"/>
              </a:rPr>
              <a:t>Share of client asks and AtliQ promises actioned by their due date</a:t>
            </a:r>
          </a:p>
        </c:rich>
      </c:tx>
      <c:layout/>
      <c:overlay val="0"/>
    </c:title>
    <c:autoTitleDeleted val="0"/>
    <c:plotArea>
      <c:layout/>
      <c:barChart>
        <c:barDir val="col"/>
        <c:grouping val="clustered"/>
        <c:varyColors val="0"/>
        <c:ser>
          <c:idx val="0"/>
          <c:order val="0"/>
          <c:tx>
            <c:strRef>
              <c:f>Sheet1!$B$1</c:f>
              <c:strCache>
                <c:ptCount val="1"/>
                <c:pt idx="0">
                  <c:v>Commitments kept on time</c:v>
                </c:pt>
              </c:strCache>
            </c:strRef>
          </c:tx>
          <c:spPr>
            <a:solidFill>
              <a:srgbClr val="0F766E"/>
            </a:solidFill>
            <a:effectLst/>
          </c:spPr>
          <c:invertIfNegative val="0"/>
          <c:dLbls>
            <c:numFmt formatCode="0&quot;%&quot;" sourceLinked="0"/>
            <c:txPr>
              <a:bodyPr/>
              <a:lstStyle/>
              <a:p>
                <a:pPr>
                  <a:defRPr b="1" i="0" strike="noStrike" sz="1600" u="none">
                    <a:solidFill>
                      <a:srgbClr val="1D2B30"/>
                    </a:solidFill>
                    <a:latin typeface="+mn-lt"/>
                  </a:defRPr>
                </a:pPr>
              </a:p>
            </c:txPr>
            <c:showLegendKey val="0"/>
            <c:showVal val="1"/>
            <c:showCatName val="0"/>
            <c:showSerName val="0"/>
            <c:showPercent val="0"/>
            <c:showBubbleSize val="0"/>
            <c:showLeaderLines val="0"/>
          </c:dLbls>
          <c:cat>
            <c:multiLvlStrRef>
              <c:f>Sheet1!$A$2:$A$4</c:f>
              <c:multiLvlStrCache>
                <c:ptCount val="3"/>
                <c:lvl>
                  <c:pt idx="0">
                    <c:v>Baseline, Jun to Jul 2026</c:v>
                  </c:pt>
                  <c:pt idx="1">
                    <c:v>Exit phased rollout</c:v>
                  </c:pt>
                  <c:pt idx="2">
                    <c:v>End of Q4 2026</c:v>
                  </c:pt>
                </c:lvl>
              </c:multiLvlStrCache>
            </c:multiLvlStrRef>
          </c:cat>
          <c:val>
            <c:numRef>
              <c:f>Sheet1!$B$2:$B$4</c:f>
              <c:numCache>
                <c:formatCode>General</c:formatCode>
                <c:ptCount val="3"/>
                <c:pt idx="0">
                  <c:v>41</c:v>
                </c:pt>
                <c:pt idx="1">
                  <c:v>80</c:v>
                </c:pt>
                <c:pt idx="2">
                  <c:v>90</c:v>
                </c:pt>
              </c:numCache>
            </c:numRef>
          </c:val>
        </c:ser>
        <c:dLbls>
          <c:numFmt formatCode="0&quot;%&quot;" sourceLinked="0"/>
          <c:txPr>
            <a:bodyPr/>
            <a:lstStyle/>
            <a:p>
              <a:pPr>
                <a:defRPr b="1" i="0" strike="noStrike" sz="1600" u="none">
                  <a:solidFill>
                    <a:srgbClr val="1D2B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D2B30"/>
                </a:solidFill>
                <a:latin typeface="+mn-lt"/>
              </a:defRPr>
            </a:pPr>
            <a:endParaRPr lang="en-US"/>
          </a:p>
        </c:txPr>
        <c:crossAx val="2094734552"/>
        <c:crosses val="autoZero"/>
        <c:auto val="1"/>
        <c:lblAlgn val="ctr"/>
        <c:noMultiLvlLbl val="1"/>
      </c:catAx>
      <c:valAx>
        <c:axId val="2094734552"/>
        <c:scaling>
          <c:orientation val="minMax"/>
          <c:max val="1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424C"/>
                </a:solidFill>
                <a:latin typeface="+mn-lt"/>
              </a:defRPr>
            </a:pPr>
            <a:r>
              <a:rPr sz="1300" b="0" i="0" u="none" strike="noStrike">
                <a:solidFill>
                  <a:srgbClr val="14424C"/>
                </a:solidFill>
                <a:latin typeface="+mn-lt"/>
              </a:rPr>
              <a:t>PRD section 11 evals, recomputed on every build</a:t>
            </a:r>
          </a:p>
        </c:rich>
      </c:tx>
      <c:layout/>
      <c:overlay val="0"/>
    </c:title>
    <c:autoTitleDeleted val="0"/>
    <c:plotArea>
      <c:layout/>
      <c:barChart>
        <c:barDir val="bar"/>
        <c:grouping val="clustered"/>
        <c:varyColors val="0"/>
        <c:ser>
          <c:idx val="0"/>
          <c:order val="0"/>
          <c:tx>
            <c:strRef>
              <c:f>Sheet1!$B$1</c:f>
              <c:strCache>
                <c:ptCount val="1"/>
                <c:pt idx="0">
                  <c:v>Result</c:v>
                </c:pt>
              </c:strCache>
            </c:strRef>
          </c:tx>
          <c:spPr>
            <a:solidFill>
              <a:srgbClr val="0F766E"/>
            </a:solidFill>
            <a:effectLst/>
          </c:spPr>
          <c:invertIfNegative val="0"/>
          <c:dLbls>
            <c:numFmt formatCode="0&quot;%&quot;" sourceLinked="0"/>
            <c:txPr>
              <a:bodyPr/>
              <a:lstStyle/>
              <a:p>
                <a:pPr>
                  <a:defRPr b="1" i="0" strike="noStrike" sz="13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Sheet1!$A$2:$A$7</c:f>
              <c:multiLvlStrCache>
                <c:ptCount val="6"/>
                <c:lvl>
                  <c:pt idx="0">
                    <c:v>Uncertainty handling (3/3)</c:v>
                  </c:pt>
                  <c:pt idx="1">
                    <c:v>Draft safety (22/22)</c:v>
                  </c:pt>
                  <c:pt idx="2">
                    <c:v>Date accuracy (37/38)</c:v>
                  </c:pt>
                  <c:pt idx="3">
                    <c:v>Citation faithfulness</c:v>
                  </c:pt>
                  <c:pt idx="4">
                    <c:v>Extraction recall (40/40)</c:v>
                  </c:pt>
                  <c:pt idx="5">
                    <c:v>Link accuracy (50/50)</c:v>
                  </c:pt>
                </c:lvl>
              </c:multiLvlStrCache>
            </c:multiLvlStrRef>
          </c:cat>
          <c:val>
            <c:numRef>
              <c:f>Sheet1!$B$2:$B$7</c:f>
              <c:numCache>
                <c:formatCode>General</c:formatCode>
                <c:ptCount val="6"/>
                <c:pt idx="0">
                  <c:v>100</c:v>
                </c:pt>
                <c:pt idx="1">
                  <c:v>100</c:v>
                </c:pt>
                <c:pt idx="2">
                  <c:v>97</c:v>
                </c:pt>
                <c:pt idx="3">
                  <c:v>100</c:v>
                </c:pt>
                <c:pt idx="4">
                  <c:v>100</c:v>
                </c:pt>
                <c:pt idx="5">
                  <c:v>100</c:v>
                </c:pt>
              </c:numCache>
            </c:numRef>
          </c:val>
        </c:ser>
        <c:dLbls>
          <c:numFmt formatCode="0&quot;%&quot;" sourceLinked="0"/>
          <c:txPr>
            <a:bodyPr/>
            <a:lstStyle/>
            <a:p>
              <a:pPr>
                <a:defRPr b="1" i="0" strike="noStrike" sz="1300" u="none">
                  <a:solidFill>
                    <a:srgbClr val="FFFFFF"/>
                  </a:solidFill>
                  <a:latin typeface="+mn-lt"/>
                </a:defRPr>
              </a:pPr>
            </a:p>
          </c:txPr>
          <c:dLblPos val="inEnd"/>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D2B30"/>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AtliQ's four sellers are losing deals they are already winning, not because of fit or price, but because nobody remembers what was promised. Sales and CRM Assistant is an AI assistant that keeps that memory for them, with a human approving anything that changes a record or reaches a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from hand-labelling every ask and promise in the dataset. The pattern is consistent: the deals are real, the clients are engaged, and AtliQ goes quiet.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Discovery used the dataset's emails and meeting notes as the interview record. The same behaviour shows up for all four sellers: promises made on a phone, CRM updated later or never, and priorities argued from memory in meetings.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why is backed by the dataset. The key insight for the product: the 'update same-day' rule already failed twice, so any solution that relies on more seller discipline will fail a third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any account and compare the CRM with the inbox: the gaps are the story. These six are the clearest examples and every one maps to a feature in the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combined revenue at risk, frequency and evidence strength. Feasibility combined data availability, technique maturity, cost of being wrong and build effort. The parked list became the product's 'should not'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and CRM Assistant sits on top of the existing CRM, inboxes and meeting notes. It does the capture and recall work; people keep every decision that changes a record or touches a client. The models are open-weight GPT-OSS models on Groq, the stack the live prototype runs on; Claude stays in the code as a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prototype at atliq-sales-and-crm-assistant.vercel.app. The ranking rule is plain code and is shown on the page, so a seller can see why an item is where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Meridian's email with the cited spans highlighted. Right: the approvals queue, where the Meridian duplicate, the uncertain FinServe link and the MedTrack service interest wait for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shaped the design: the smaller GPT-OSS 20B model gates every message and the 120B model only sees messages that carry a commitment, plus everything a seller reads. Ranking, due dates and duplicate checks are code, which removes calls and makes the brief explainable. Moving from the original Claude plan to Groq cut inference from about $16 to under $2 a month; hosting is now most of the cost. Figures are from the updated Step 4 cost estimate (4 Oct 2026). Open point: Groq processes data in the US, which we must resolve for clients with in-country rules before using real client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holding reply does not count as actioned, and the North Star is always read next to extraction recall, so it can't rise by capturing less. Any guardrail breach pauses rollout whatever the North Star says. Why not revenue as the North Star: it lags by weeks or months and moves with price, market and deal size, so a two-week beta couldn't show whether Sales and CRM Assistant caused a change. The next slide shows how we still measure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keep Commitments Kept on Time as the North Star because the product drives it directly and it moves fast enough to steer a two-week beta. Revenue is the outcome it should drive, so we track it underneath. The key test is win rate on deals where every commitment was kept against deals where one slipped: if that gap doesn't appear within two quarters, we revisit whether commitments are the right lever. Stage conversion and days in stage can't be baselined from today's CRM because it keeps no stage history; Sales and CRM Assistant's logged status approvals create that history in beta. The counter-metric stops the score being gamed by turning missed promises into new dated promises.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Thresholds are the PRD's: 95% link accuracy, 90% recall, 100% citation faithfulness, 90% date accuracy, zero draft defects. Measured only from what the sources show, the North Star baseline is 33%, a little below the hand-labelled 41%, because the editorial notes are stripped. The one date miss is LoopMart, dated from the TechSummit debrief.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map to the opportunity map's 'should not' list. The draft-safety check is not theoretical: during live testing it caught a model draft that confirmed ClearPath's 40k estimate, which the PRD forbids.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stage has a gate. Stage 1 is complete: the prototype runs over the dataset and passes the evals. Beta runs in shadow mode so nothing is written while we measure recall on real 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is small and reversible: one seller, read-only, two weeks. The data from that beta decides whether we turn on approved CRM writes for all four sellers.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2801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291840"/>
            <a:ext cx="10698480" cy="1463040"/>
          </a:xfrm>
          <a:prstGeom prst="rect">
            <a:avLst/>
          </a:prstGeom>
          <a:noFill/>
          <a:ln/>
        </p:spPr>
        <p:txBody>
          <a:bodyPr wrap="square" rtlCol="0"/>
          <a:lstStyle>
            <a:lvl1pPr algn="l" indent="0" marL="0">
              <a:buNone/>
              <a:defRPr lang="en-US" sz="2400" dirty="0">
                <a:solidFill>
                  <a:schemeClr val="bg2"/>
                </a:solidFill>
                <a:latin typeface="Calibri" pitchFamily="34" charset="0"/>
                <a:ea typeface="Calibri" pitchFamily="34" charset="-122"/>
                <a:cs typeface="Calibri" pitchFamily="34" charset="-120"/>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chemeClr val="accent4"/>
                </a:solidFill>
              </a:rPr>
              <a:t>AtliQ Sales and CRM Assistant</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28016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AtliQ Sales and CRM Assistant</a:t>
            </a:r>
            <a:endParaRPr lang="en-US" sz="4400" dirty="0"/>
          </a:p>
        </p:txBody>
      </p:sp>
      <p:sp>
        <p:nvSpPr>
          <p:cNvPr id="3" name="Text 0"/>
          <p:cNvSpPr/>
          <p:nvPr>
            <p:ph idx="101" type="body" hasCustomPrompt="1"/>
          </p:nvPr>
        </p:nvSpPr>
        <p:spPr>
          <a:xfrm>
            <a:off x="731520" y="3291840"/>
            <a:ext cx="10698480" cy="1463040"/>
          </a:xfrm>
          <a:prstGeom prst="rect">
            <a:avLst/>
          </a:prstGeom>
          <a:noFill/>
          <a:ln/>
        </p:spPr>
        <p:txBody>
          <a:bodyPr wrap="square" lIns="0" tIns="0" rIns="0" bIns="0" rtlCol="0" anchor="t"/>
          <a:lstStyle/>
          <a:p>
            <a:pPr algn="l" indent="0" marL="0">
              <a:buNone/>
            </a:pPr>
            <a:r>
              <a:rPr lang="en-US" sz="2400" dirty="0">
                <a:solidFill>
                  <a:schemeClr val="bg2"/>
                </a:solidFill>
                <a:latin typeface="Calibri" pitchFamily="34" charset="0"/>
                <a:ea typeface="Calibri" pitchFamily="34" charset="-122"/>
                <a:cs typeface="Calibri" pitchFamily="34" charset="-120"/>
              </a:rPr>
              <a:t>AtliQ doesn't lack leads. It lacks memory.</a:t>
            </a:r>
            <a:endParaRPr lang="en-US" sz="2400" dirty="0"/>
          </a:p>
        </p:txBody>
      </p:sp>
      <p:sp>
        <p:nvSpPr>
          <p:cNvPr id="4" name="Text 2"/>
          <p:cNvSpPr txBox="1"/>
          <p:nvPr/>
        </p:nvSpPr>
        <p:spPr>
          <a:xfrm>
            <a:off x="731520" y="5760720"/>
            <a:ext cx="10698480" cy="365760"/>
          </a:xfrm>
          <a:prstGeom prst="rect">
            <a:avLst/>
          </a:prstGeom>
          <a:noFill/>
          <a:ln/>
        </p:spPr>
        <p:txBody>
          <a:bodyPr wrap="square" lIns="0" tIns="0" rIns="0" bIns="0" rtlCol="0" anchor="t"/>
          <a:lstStyle/>
          <a:p>
            <a:pPr indent="0" marL="0">
              <a:buNone/>
            </a:pPr>
            <a:r>
              <a:rPr lang="en-US" sz="1400" dirty="0">
                <a:solidFill>
                  <a:schemeClr val="bg2"/>
                </a:solidFill>
              </a:rPr>
              <a:t>Capstone 1 · Ashokkumar, AI Product Manager · Data as of 10 July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Revenue is leaking from deals AtliQ is already winning</a:t>
            </a:r>
            <a:endParaRPr lang="en-US" sz="3000" dirty="0"/>
          </a:p>
        </p:txBody>
      </p:sp>
      <p:sp>
        <p:nvSpPr>
          <p:cNvPr id="3" name="Shape 1"/>
          <p:cNvSpPr/>
          <p:nvPr/>
        </p:nvSpPr>
        <p:spPr>
          <a:xfrm>
            <a:off x="548640" y="1600200"/>
            <a:ext cx="2560320" cy="2926080"/>
          </a:xfrm>
          <a:prstGeom prst="roundRect">
            <a:avLst>
              <a:gd name="adj" fmla="val 4286"/>
            </a:avLst>
          </a:prstGeom>
          <a:solidFill>
            <a:schemeClr val="bg2"/>
          </a:solidFill>
          <a:ln/>
        </p:spPr>
      </p:sp>
      <p:sp>
        <p:nvSpPr>
          <p:cNvPr id="4" name="Text 2"/>
          <p:cNvSpPr txBox="1"/>
          <p:nvPr/>
        </p:nvSpPr>
        <p:spPr>
          <a:xfrm>
            <a:off x="777240" y="1920240"/>
            <a:ext cx="2194560" cy="1005840"/>
          </a:xfrm>
          <a:prstGeom prst="rect">
            <a:avLst/>
          </a:prstGeom>
          <a:noFill/>
          <a:ln/>
        </p:spPr>
        <p:txBody>
          <a:bodyPr wrap="square" lIns="0" tIns="0" rIns="0" bIns="0" rtlCol="0" anchor="ctr"/>
          <a:lstStyle/>
          <a:p>
            <a:pPr indent="0" marL="0">
              <a:buNone/>
            </a:pPr>
            <a:r>
              <a:rPr lang="en-US" sz="3800" b="1" dirty="0">
                <a:solidFill>
                  <a:schemeClr val="accent3"/>
                </a:solidFill>
                <a:latin typeface="Cambria" pitchFamily="34" charset="0"/>
                <a:ea typeface="Cambria" pitchFamily="34" charset="-122"/>
                <a:cs typeface="Cambria" pitchFamily="34" charset="-120"/>
              </a:rPr>
              <a:t>$442.5k</a:t>
            </a:r>
            <a:endParaRPr lang="en-US" sz="3800" dirty="0"/>
          </a:p>
        </p:txBody>
      </p:sp>
      <p:sp>
        <p:nvSpPr>
          <p:cNvPr id="5" name="Text 3"/>
          <p:cNvSpPr txBox="1"/>
          <p:nvPr/>
        </p:nvSpPr>
        <p:spPr>
          <a:xfrm>
            <a:off x="822960" y="3063240"/>
            <a:ext cx="2011680" cy="1280160"/>
          </a:xfrm>
          <a:prstGeom prst="rect">
            <a:avLst/>
          </a:prstGeom>
          <a:noFill/>
          <a:ln/>
        </p:spPr>
        <p:txBody>
          <a:bodyPr wrap="square" lIns="0" tIns="0" rIns="0" bIns="0" rtlCol="0" anchor="t"/>
          <a:lstStyle/>
          <a:p>
            <a:pPr indent="0" marL="0">
              <a:buNone/>
            </a:pPr>
            <a:r>
              <a:rPr lang="en-US" sz="1600" dirty="0">
                <a:solidFill>
                  <a:schemeClr val="tx1"/>
                </a:solidFill>
              </a:rPr>
              <a:t>valued pipeline across 8 deals waiting on a missed or at-risk AtliQ action</a:t>
            </a:r>
            <a:endParaRPr lang="en-US" sz="1600" dirty="0"/>
          </a:p>
        </p:txBody>
      </p:sp>
      <p:sp>
        <p:nvSpPr>
          <p:cNvPr id="6" name="Shape 4"/>
          <p:cNvSpPr/>
          <p:nvPr/>
        </p:nvSpPr>
        <p:spPr>
          <a:xfrm>
            <a:off x="3383280" y="1600200"/>
            <a:ext cx="2560320" cy="2926080"/>
          </a:xfrm>
          <a:prstGeom prst="roundRect">
            <a:avLst>
              <a:gd name="adj" fmla="val 4286"/>
            </a:avLst>
          </a:prstGeom>
          <a:solidFill>
            <a:schemeClr val="bg2"/>
          </a:solidFill>
          <a:ln/>
        </p:spPr>
      </p:sp>
      <p:sp>
        <p:nvSpPr>
          <p:cNvPr id="7" name="Text 5"/>
          <p:cNvSpPr txBox="1"/>
          <p:nvPr/>
        </p:nvSpPr>
        <p:spPr>
          <a:xfrm>
            <a:off x="3611880" y="1920240"/>
            <a:ext cx="2194560" cy="1005840"/>
          </a:xfrm>
          <a:prstGeom prst="rect">
            <a:avLst/>
          </a:prstGeom>
          <a:noFill/>
          <a:ln/>
        </p:spPr>
        <p:txBody>
          <a:bodyPr wrap="square" lIns="0" tIns="0" rIns="0" bIns="0" rtlCol="0" anchor="ctr"/>
          <a:lstStyle/>
          <a:p>
            <a:pPr indent="0" marL="0">
              <a:buNone/>
            </a:pPr>
            <a:r>
              <a:rPr lang="en-US" sz="3800" b="1" dirty="0">
                <a:solidFill>
                  <a:schemeClr val="accent2"/>
                </a:solidFill>
                <a:latin typeface="Cambria" pitchFamily="34" charset="0"/>
                <a:ea typeface="Cambria" pitchFamily="34" charset="-122"/>
                <a:cs typeface="Cambria" pitchFamily="34" charset="-120"/>
              </a:rPr>
              <a:t>41%</a:t>
            </a:r>
            <a:endParaRPr lang="en-US" sz="3800" dirty="0"/>
          </a:p>
        </p:txBody>
      </p:sp>
      <p:sp>
        <p:nvSpPr>
          <p:cNvPr id="8" name="Text 6"/>
          <p:cNvSpPr txBox="1"/>
          <p:nvPr/>
        </p:nvSpPr>
        <p:spPr>
          <a:xfrm>
            <a:off x="3657600" y="3063240"/>
            <a:ext cx="2011680" cy="1280160"/>
          </a:xfrm>
          <a:prstGeom prst="rect">
            <a:avLst/>
          </a:prstGeom>
          <a:noFill/>
          <a:ln/>
        </p:spPr>
        <p:txBody>
          <a:bodyPr wrap="square" lIns="0" tIns="0" rIns="0" bIns="0" rtlCol="0" anchor="t"/>
          <a:lstStyle/>
          <a:p>
            <a:pPr indent="0" marL="0">
              <a:buNone/>
            </a:pPr>
            <a:r>
              <a:rPr lang="en-US" sz="1600" dirty="0">
                <a:solidFill>
                  <a:schemeClr val="tx1"/>
                </a:solidFill>
              </a:rPr>
              <a:t>of client asks and AtliQ promises actioned on time (15 of 37, Jun to Jul)</a:t>
            </a:r>
            <a:endParaRPr lang="en-US" sz="1600" dirty="0"/>
          </a:p>
        </p:txBody>
      </p:sp>
      <p:sp>
        <p:nvSpPr>
          <p:cNvPr id="9" name="Shape 7"/>
          <p:cNvSpPr/>
          <p:nvPr/>
        </p:nvSpPr>
        <p:spPr>
          <a:xfrm>
            <a:off x="6217920" y="1600200"/>
            <a:ext cx="2560320" cy="2926080"/>
          </a:xfrm>
          <a:prstGeom prst="roundRect">
            <a:avLst>
              <a:gd name="adj" fmla="val 4286"/>
            </a:avLst>
          </a:prstGeom>
          <a:solidFill>
            <a:schemeClr val="bg2"/>
          </a:solidFill>
          <a:ln/>
        </p:spPr>
      </p:sp>
      <p:sp>
        <p:nvSpPr>
          <p:cNvPr id="10" name="Text 8"/>
          <p:cNvSpPr txBox="1"/>
          <p:nvPr/>
        </p:nvSpPr>
        <p:spPr>
          <a:xfrm>
            <a:off x="6446520" y="1920240"/>
            <a:ext cx="2194560" cy="1005840"/>
          </a:xfrm>
          <a:prstGeom prst="rect">
            <a:avLst/>
          </a:prstGeom>
          <a:noFill/>
          <a:ln/>
        </p:spPr>
        <p:txBody>
          <a:bodyPr wrap="square" lIns="0" tIns="0" rIns="0" bIns="0" rtlCol="0" anchor="ctr"/>
          <a:lstStyle/>
          <a:p>
            <a:pPr indent="0" marL="0">
              <a:buNone/>
            </a:pPr>
            <a:r>
              <a:rPr lang="en-US" sz="3800" b="1" dirty="0">
                <a:solidFill>
                  <a:schemeClr val="accent4"/>
                </a:solidFill>
                <a:latin typeface="Cambria" pitchFamily="34" charset="0"/>
                <a:ea typeface="Cambria" pitchFamily="34" charset="-122"/>
                <a:cs typeface="Cambria" pitchFamily="34" charset="-120"/>
              </a:rPr>
              <a:t>0 / 40</a:t>
            </a:r>
            <a:endParaRPr lang="en-US" sz="3800" dirty="0"/>
          </a:p>
        </p:txBody>
      </p:sp>
      <p:sp>
        <p:nvSpPr>
          <p:cNvPr id="11" name="Text 9"/>
          <p:cNvSpPr txBox="1"/>
          <p:nvPr/>
        </p:nvSpPr>
        <p:spPr>
          <a:xfrm>
            <a:off x="6492240" y="3063240"/>
            <a:ext cx="2011680" cy="1280160"/>
          </a:xfrm>
          <a:prstGeom prst="rect">
            <a:avLst/>
          </a:prstGeom>
          <a:noFill/>
          <a:ln/>
        </p:spPr>
        <p:txBody>
          <a:bodyPr wrap="square" lIns="0" tIns="0" rIns="0" bIns="0" rtlCol="0" anchor="t"/>
          <a:lstStyle/>
          <a:p>
            <a:pPr indent="0" marL="0">
              <a:buNone/>
            </a:pPr>
            <a:r>
              <a:rPr lang="en-US" sz="1600" dirty="0">
                <a:solidFill>
                  <a:schemeClr val="tx1"/>
                </a:solidFill>
              </a:rPr>
              <a:t>CRM records with a next follow-up date</a:t>
            </a:r>
            <a:endParaRPr lang="en-US" sz="1600" dirty="0"/>
          </a:p>
        </p:txBody>
      </p:sp>
      <p:sp>
        <p:nvSpPr>
          <p:cNvPr id="12" name="Shape 10"/>
          <p:cNvSpPr/>
          <p:nvPr/>
        </p:nvSpPr>
        <p:spPr>
          <a:xfrm>
            <a:off x="9052560" y="1600200"/>
            <a:ext cx="2560320" cy="2926080"/>
          </a:xfrm>
          <a:prstGeom prst="roundRect">
            <a:avLst>
              <a:gd name="adj" fmla="val 4286"/>
            </a:avLst>
          </a:prstGeom>
          <a:solidFill>
            <a:schemeClr val="bg2"/>
          </a:solidFill>
          <a:ln/>
        </p:spPr>
      </p:sp>
      <p:sp>
        <p:nvSpPr>
          <p:cNvPr id="13" name="Text 11"/>
          <p:cNvSpPr txBox="1"/>
          <p:nvPr/>
        </p:nvSpPr>
        <p:spPr>
          <a:xfrm>
            <a:off x="9281160" y="1920240"/>
            <a:ext cx="2194560" cy="1005840"/>
          </a:xfrm>
          <a:prstGeom prst="rect">
            <a:avLst/>
          </a:prstGeom>
          <a:noFill/>
          <a:ln/>
        </p:spPr>
        <p:txBody>
          <a:bodyPr wrap="square" lIns="0" tIns="0" rIns="0" bIns="0" rtlCol="0" anchor="ctr"/>
          <a:lstStyle/>
          <a:p>
            <a:pPr indent="0" marL="0">
              <a:buNone/>
            </a:pPr>
            <a:r>
              <a:rPr lang="en-US" sz="3800" b="1" dirty="0">
                <a:solidFill>
                  <a:schemeClr val="accent1"/>
                </a:solidFill>
                <a:latin typeface="Cambria" pitchFamily="34" charset="0"/>
                <a:ea typeface="Cambria" pitchFamily="34" charset="-122"/>
                <a:cs typeface="Cambria" pitchFamily="34" charset="-120"/>
              </a:rPr>
              <a:t>20 days</a:t>
            </a:r>
            <a:endParaRPr lang="en-US" sz="3800" dirty="0"/>
          </a:p>
        </p:txBody>
      </p:sp>
      <p:sp>
        <p:nvSpPr>
          <p:cNvPr id="14" name="Text 12"/>
          <p:cNvSpPr txBox="1"/>
          <p:nvPr/>
        </p:nvSpPr>
        <p:spPr>
          <a:xfrm>
            <a:off x="9326880" y="3063240"/>
            <a:ext cx="2011680" cy="1280160"/>
          </a:xfrm>
          <a:prstGeom prst="rect">
            <a:avLst/>
          </a:prstGeom>
          <a:noFill/>
          <a:ln/>
        </p:spPr>
        <p:txBody>
          <a:bodyPr wrap="square" lIns="0" tIns="0" rIns="0" bIns="0" rtlCol="0" anchor="t"/>
          <a:lstStyle/>
          <a:p>
            <a:pPr indent="0" marL="0">
              <a:buNone/>
            </a:pPr>
            <a:r>
              <a:rPr lang="en-US" sz="1600" dirty="0">
                <a:solidFill>
                  <a:schemeClr val="tx1"/>
                </a:solidFill>
              </a:rPr>
              <a:t>median wait on the 21 asks and promises already past due</a:t>
            </a:r>
            <a:endParaRPr lang="en-US" sz="1600" dirty="0"/>
          </a:p>
        </p:txBody>
      </p:sp>
      <p:sp>
        <p:nvSpPr>
          <p:cNvPr id="15" name="Text 13"/>
          <p:cNvSpPr txBox="1"/>
          <p:nvPr/>
        </p:nvSpPr>
        <p:spPr>
          <a:xfrm>
            <a:off x="548640" y="4846320"/>
            <a:ext cx="11064240" cy="822960"/>
          </a:xfrm>
          <a:prstGeom prst="rect">
            <a:avLst/>
          </a:prstGeom>
          <a:noFill/>
          <a:ln/>
        </p:spPr>
        <p:txBody>
          <a:bodyPr wrap="square" lIns="0" tIns="0" rIns="0" bIns="0" rtlCol="0" anchor="t"/>
          <a:lstStyle/>
          <a:p>
            <a:pPr indent="0" marL="0">
              <a:buNone/>
            </a:pPr>
            <a:r>
              <a:rPr lang="en-US" sz="1600" i="1" dirty="0">
                <a:solidFill>
                  <a:schemeClr val="tx2"/>
                </a:solidFill>
              </a:rPr>
              <a:t>FinEdge ($95k) waited 21 days for a call-slot confirmation. Meridian's ($45k) proposal questions waited 24 days. ClearPath's unfrozen 40k budget got no reply for 31 days.</a:t>
            </a:r>
            <a:endParaRPr lang="en-US" sz="1600" dirty="0"/>
          </a:p>
        </p:txBody>
      </p:sp>
      <p:sp>
        <p:nvSpPr>
          <p:cNvPr id="16" name="Text 14"/>
          <p:cNvSpPr txBox="1"/>
          <p:nvPr/>
        </p:nvSpPr>
        <p:spPr>
          <a:xfrm>
            <a:off x="548640" y="5897880"/>
            <a:ext cx="11064240" cy="320040"/>
          </a:xfrm>
          <a:prstGeom prst="rect">
            <a:avLst/>
          </a:prstGeom>
          <a:noFill/>
          <a:ln/>
        </p:spPr>
        <p:txBody>
          <a:bodyPr wrap="square" lIns="0" tIns="0" rIns="0" bIns="0" rtlCol="0" anchor="t"/>
          <a:lstStyle/>
          <a:p>
            <a:pPr indent="0" marL="0">
              <a:buNone/>
            </a:pPr>
            <a:r>
              <a:rPr lang="en-US" sz="1100" dirty="0">
                <a:solidFill>
                  <a:schemeClr val="accent4"/>
                </a:solidFill>
              </a:rPr>
              <a:t>Source: PRD Appendix A, hand-labelled from the AtliQ dataset (34 email threads, 16 meeting notes, 40-record CRM export).</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Discovery: sellers work from a phone, not the CRM</a:t>
            </a:r>
            <a:endParaRPr lang="en-US" sz="3000" dirty="0"/>
          </a:p>
        </p:txBody>
      </p:sp>
      <p:sp>
        <p:nvSpPr>
          <p:cNvPr id="3" name="Shape 1"/>
          <p:cNvSpPr/>
          <p:nvPr/>
        </p:nvSpPr>
        <p:spPr>
          <a:xfrm>
            <a:off x="548640" y="1463040"/>
            <a:ext cx="4206240" cy="4663440"/>
          </a:xfrm>
          <a:prstGeom prst="roundRect">
            <a:avLst>
              <a:gd name="adj" fmla="val 2609"/>
            </a:avLst>
          </a:prstGeom>
          <a:solidFill>
            <a:schemeClr val="tx2"/>
          </a:solidFill>
          <a:ln/>
        </p:spPr>
      </p:sp>
      <p:sp>
        <p:nvSpPr>
          <p:cNvPr id="4" name="Text 2"/>
          <p:cNvSpPr txBox="1"/>
          <p:nvPr/>
        </p:nvSpPr>
        <p:spPr>
          <a:xfrm>
            <a:off x="868680" y="1691640"/>
            <a:ext cx="3657600" cy="320040"/>
          </a:xfrm>
          <a:prstGeom prst="rect">
            <a:avLst/>
          </a:prstGeom>
          <a:noFill/>
          <a:ln/>
        </p:spPr>
        <p:txBody>
          <a:bodyPr wrap="square" lIns="0" tIns="0" rIns="0" bIns="0" rtlCol="0" anchor="t"/>
          <a:lstStyle/>
          <a:p>
            <a:pPr indent="0" marL="0">
              <a:buNone/>
            </a:pPr>
            <a:r>
              <a:rPr lang="en-US" sz="1300" b="1" dirty="0">
                <a:solidFill>
                  <a:schemeClr val="accent2"/>
                </a:solidFill>
              </a:rPr>
              <a:t>Primary persona</a:t>
            </a:r>
            <a:endParaRPr lang="en-US" sz="1300" dirty="0"/>
          </a:p>
        </p:txBody>
      </p:sp>
      <p:sp>
        <p:nvSpPr>
          <p:cNvPr id="5" name="Text 3"/>
          <p:cNvSpPr txBox="1"/>
          <p:nvPr/>
        </p:nvSpPr>
        <p:spPr>
          <a:xfrm>
            <a:off x="868680" y="2011680"/>
            <a:ext cx="3657600" cy="73152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Bhavin, co-founder and lead seller</a:t>
            </a:r>
            <a:endParaRPr lang="en-US" sz="2200" dirty="0"/>
          </a:p>
        </p:txBody>
      </p:sp>
      <p:sp>
        <p:nvSpPr>
          <p:cNvPr id="6" name="Text 4"/>
          <p:cNvSpPr txBox="1"/>
          <p:nvPr/>
        </p:nvSpPr>
        <p:spPr>
          <a:xfrm>
            <a:off x="868680" y="2880360"/>
            <a:ext cx="3657600" cy="30175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Owns the four largest open deals: FinEdge $95k, NovaPharma $80k, ShopSwift $55k, Meridian $45k.</a:t>
            </a:r>
            <a:endParaRPr lang="en-US" sz="1500" dirty="0"/>
          </a:p>
          <a:p>
            <a:pPr marL="342900" indent="-342900">
              <a:spcAft>
                <a:spcPts val="800"/>
              </a:spcAft>
              <a:buSzPct val="100000"/>
              <a:buChar char="•"/>
            </a:pPr>
            <a:r>
              <a:rPr lang="en-US" sz="1500" dirty="0">
                <a:solidFill>
                  <a:schemeClr val="bg1"/>
                </a:solidFill>
              </a:rPr>
              <a:t>Sells between meetings and on the road while running the company.</a:t>
            </a:r>
            <a:endParaRPr lang="en-US" sz="1500" dirty="0"/>
          </a:p>
          <a:p>
            <a:pPr marL="342900" indent="-342900">
              <a:spcAft>
                <a:spcPts val="800"/>
              </a:spcAft>
              <a:buSzPct val="100000"/>
              <a:buChar char="•"/>
            </a:pPr>
            <a:r>
              <a:rPr lang="en-US" sz="1500" dirty="0">
                <a:solidFill>
                  <a:schemeClr val="bg1"/>
                </a:solidFill>
              </a:rPr>
              <a:t>Goal: close what's in play on time and turn referrals into revenue.</a:t>
            </a:r>
            <a:endParaRPr lang="en-US" sz="1500" dirty="0"/>
          </a:p>
        </p:txBody>
      </p:sp>
      <p:sp>
        <p:nvSpPr>
          <p:cNvPr id="7" name="Shape 5"/>
          <p:cNvSpPr/>
          <p:nvPr/>
        </p:nvSpPr>
        <p:spPr>
          <a:xfrm>
            <a:off x="5120640" y="1463040"/>
            <a:ext cx="6492240" cy="1051560"/>
          </a:xfrm>
          <a:prstGeom prst="roundRect">
            <a:avLst>
              <a:gd name="adj" fmla="val 10435"/>
            </a:avLst>
          </a:prstGeom>
          <a:solidFill>
            <a:schemeClr val="bg2"/>
          </a:solidFill>
          <a:ln/>
        </p:spPr>
      </p:sp>
      <p:sp>
        <p:nvSpPr>
          <p:cNvPr id="8" name="Text 6"/>
          <p:cNvSpPr txBox="1"/>
          <p:nvPr/>
        </p:nvSpPr>
        <p:spPr>
          <a:xfrm>
            <a:off x="5394960" y="1600200"/>
            <a:ext cx="6035040" cy="548640"/>
          </a:xfrm>
          <a:prstGeom prst="rect">
            <a:avLst/>
          </a:prstGeom>
          <a:noFill/>
          <a:ln/>
        </p:spPr>
        <p:txBody>
          <a:bodyPr wrap="square" lIns="0" tIns="0" rIns="0" bIns="0" rtlCol="0" anchor="t"/>
          <a:lstStyle/>
          <a:p>
            <a:pPr indent="0" marL="0">
              <a:buNone/>
            </a:pPr>
            <a:r>
              <a:rPr lang="en-US" sz="1700" i="1" dirty="0">
                <a:solidFill>
                  <a:schemeClr val="tx2"/>
                </a:solidFill>
                <a:latin typeface="Cambria" pitchFamily="34" charset="0"/>
                <a:ea typeface="Cambria" pitchFamily="34" charset="-122"/>
                <a:cs typeface="Cambria" pitchFamily="34" charset="-120"/>
              </a:rPr>
              <a:t>“We find out what's urgent by accident.”</a:t>
            </a:r>
            <a:endParaRPr lang="en-US" sz="1700" dirty="0"/>
          </a:p>
        </p:txBody>
      </p:sp>
      <p:sp>
        <p:nvSpPr>
          <p:cNvPr id="9" name="Text 7"/>
          <p:cNvSpPr txBox="1"/>
          <p:nvPr/>
        </p:nvSpPr>
        <p:spPr>
          <a:xfrm>
            <a:off x="5394960" y="2176272"/>
            <a:ext cx="6035040" cy="274320"/>
          </a:xfrm>
          <a:prstGeom prst="rect">
            <a:avLst/>
          </a:prstGeom>
          <a:noFill/>
          <a:ln/>
        </p:spPr>
        <p:txBody>
          <a:bodyPr wrap="square" lIns="0" tIns="0" rIns="0" bIns="0" rtlCol="0" anchor="t"/>
          <a:lstStyle/>
          <a:p>
            <a:pPr indent="0" marL="0">
              <a:buNone/>
            </a:pPr>
            <a:r>
              <a:rPr lang="en-US" sz="1200" dirty="0">
                <a:solidFill>
                  <a:schemeClr val="accent4"/>
                </a:solidFill>
              </a:rPr>
              <a:t>Karandeep, CEO</a:t>
            </a:r>
            <a:endParaRPr lang="en-US" sz="1200" dirty="0"/>
          </a:p>
        </p:txBody>
      </p:sp>
      <p:sp>
        <p:nvSpPr>
          <p:cNvPr id="10" name="Shape 8"/>
          <p:cNvSpPr/>
          <p:nvPr/>
        </p:nvSpPr>
        <p:spPr>
          <a:xfrm>
            <a:off x="5120640" y="2651760"/>
            <a:ext cx="6492240" cy="1051560"/>
          </a:xfrm>
          <a:prstGeom prst="roundRect">
            <a:avLst>
              <a:gd name="adj" fmla="val 10435"/>
            </a:avLst>
          </a:prstGeom>
          <a:solidFill>
            <a:schemeClr val="bg2"/>
          </a:solidFill>
          <a:ln/>
        </p:spPr>
      </p:sp>
      <p:sp>
        <p:nvSpPr>
          <p:cNvPr id="11" name="Text 9"/>
          <p:cNvSpPr txBox="1"/>
          <p:nvPr/>
        </p:nvSpPr>
        <p:spPr>
          <a:xfrm>
            <a:off x="5394960" y="2788920"/>
            <a:ext cx="6035040" cy="548640"/>
          </a:xfrm>
          <a:prstGeom prst="rect">
            <a:avLst/>
          </a:prstGeom>
          <a:noFill/>
          <a:ln/>
        </p:spPr>
        <p:txBody>
          <a:bodyPr wrap="square" lIns="0" tIns="0" rIns="0" bIns="0" rtlCol="0" anchor="t"/>
          <a:lstStyle/>
          <a:p>
            <a:pPr indent="0" marL="0">
              <a:buNone/>
            </a:pPr>
            <a:r>
              <a:rPr lang="en-US" sz="1700" i="1" dirty="0">
                <a:solidFill>
                  <a:schemeClr val="tx2"/>
                </a:solidFill>
                <a:latin typeface="Cambria" pitchFamily="34" charset="0"/>
                <a:ea typeface="Cambria" pitchFamily="34" charset="-122"/>
                <a:cs typeface="Cambria" pitchFamily="34" charset="-120"/>
              </a:rPr>
              <a:t>“I answer emails on my phone between meetings and it never gets into the system.”</a:t>
            </a:r>
            <a:endParaRPr lang="en-US" sz="1700" dirty="0"/>
          </a:p>
        </p:txBody>
      </p:sp>
      <p:sp>
        <p:nvSpPr>
          <p:cNvPr id="12" name="Text 10"/>
          <p:cNvSpPr txBox="1"/>
          <p:nvPr/>
        </p:nvSpPr>
        <p:spPr>
          <a:xfrm>
            <a:off x="5394960" y="3364992"/>
            <a:ext cx="6035040" cy="274320"/>
          </a:xfrm>
          <a:prstGeom prst="rect">
            <a:avLst/>
          </a:prstGeom>
          <a:noFill/>
          <a:ln/>
        </p:spPr>
        <p:txBody>
          <a:bodyPr wrap="square" lIns="0" tIns="0" rIns="0" bIns="0" rtlCol="0" anchor="t"/>
          <a:lstStyle/>
          <a:p>
            <a:pPr indent="0" marL="0">
              <a:buNone/>
            </a:pPr>
            <a:r>
              <a:rPr lang="en-US" sz="1200" dirty="0">
                <a:solidFill>
                  <a:schemeClr val="accent4"/>
                </a:solidFill>
              </a:rPr>
              <a:t>Karandeep, CEO</a:t>
            </a:r>
            <a:endParaRPr lang="en-US" sz="1200" dirty="0"/>
          </a:p>
        </p:txBody>
      </p:sp>
      <p:sp>
        <p:nvSpPr>
          <p:cNvPr id="13" name="Shape 11"/>
          <p:cNvSpPr/>
          <p:nvPr/>
        </p:nvSpPr>
        <p:spPr>
          <a:xfrm>
            <a:off x="5120640" y="3840480"/>
            <a:ext cx="6492240" cy="1051560"/>
          </a:xfrm>
          <a:prstGeom prst="roundRect">
            <a:avLst>
              <a:gd name="adj" fmla="val 10435"/>
            </a:avLst>
          </a:prstGeom>
          <a:solidFill>
            <a:schemeClr val="bg2"/>
          </a:solidFill>
          <a:ln/>
        </p:spPr>
      </p:sp>
      <p:sp>
        <p:nvSpPr>
          <p:cNvPr id="14" name="Text 12"/>
          <p:cNvSpPr txBox="1"/>
          <p:nvPr/>
        </p:nvSpPr>
        <p:spPr>
          <a:xfrm>
            <a:off x="5394960" y="3977640"/>
            <a:ext cx="6035040" cy="548640"/>
          </a:xfrm>
          <a:prstGeom prst="rect">
            <a:avLst/>
          </a:prstGeom>
          <a:noFill/>
          <a:ln/>
        </p:spPr>
        <p:txBody>
          <a:bodyPr wrap="square" lIns="0" tIns="0" rIns="0" bIns="0" rtlCol="0" anchor="t"/>
          <a:lstStyle/>
          <a:p>
            <a:pPr indent="0" marL="0">
              <a:buNone/>
            </a:pPr>
            <a:r>
              <a:rPr lang="en-US" sz="1700" i="1" dirty="0">
                <a:solidFill>
                  <a:schemeClr val="tx2"/>
                </a:solidFill>
                <a:latin typeface="Cambria" pitchFamily="34" charset="0"/>
                <a:ea typeface="Cambria" pitchFamily="34" charset="-122"/>
                <a:cs typeface="Cambria" pitchFamily="34" charset="-120"/>
              </a:rPr>
              <a:t>“Can you put this in the CRM? I'll forget half of it by next week.”</a:t>
            </a:r>
            <a:endParaRPr lang="en-US" sz="1700" dirty="0"/>
          </a:p>
        </p:txBody>
      </p:sp>
      <p:sp>
        <p:nvSpPr>
          <p:cNvPr id="15" name="Text 13"/>
          <p:cNvSpPr txBox="1"/>
          <p:nvPr/>
        </p:nvSpPr>
        <p:spPr>
          <a:xfrm>
            <a:off x="5394960" y="4553712"/>
            <a:ext cx="6035040" cy="274320"/>
          </a:xfrm>
          <a:prstGeom prst="rect">
            <a:avLst/>
          </a:prstGeom>
          <a:noFill/>
          <a:ln/>
        </p:spPr>
        <p:txBody>
          <a:bodyPr wrap="square" lIns="0" tIns="0" rIns="0" bIns="0" rtlCol="0" anchor="t"/>
          <a:lstStyle/>
          <a:p>
            <a:pPr indent="0" marL="0">
              <a:buNone/>
            </a:pPr>
            <a:r>
              <a:rPr lang="en-US" sz="1200" dirty="0">
                <a:solidFill>
                  <a:schemeClr val="accent4"/>
                </a:solidFill>
              </a:rPr>
              <a:t>Dhaval, co-founder</a:t>
            </a:r>
            <a:endParaRPr lang="en-US" sz="1200" dirty="0"/>
          </a:p>
        </p:txBody>
      </p:sp>
      <p:sp>
        <p:nvSpPr>
          <p:cNvPr id="16" name="Shape 14"/>
          <p:cNvSpPr/>
          <p:nvPr/>
        </p:nvSpPr>
        <p:spPr>
          <a:xfrm>
            <a:off x="5120640" y="5029200"/>
            <a:ext cx="6492240" cy="1051560"/>
          </a:xfrm>
          <a:prstGeom prst="roundRect">
            <a:avLst>
              <a:gd name="adj" fmla="val 10435"/>
            </a:avLst>
          </a:prstGeom>
          <a:solidFill>
            <a:schemeClr val="bg2"/>
          </a:solidFill>
          <a:ln/>
        </p:spPr>
      </p:sp>
      <p:sp>
        <p:nvSpPr>
          <p:cNvPr id="17" name="Text 15"/>
          <p:cNvSpPr txBox="1"/>
          <p:nvPr/>
        </p:nvSpPr>
        <p:spPr>
          <a:xfrm>
            <a:off x="5394960" y="5166360"/>
            <a:ext cx="6035040" cy="548640"/>
          </a:xfrm>
          <a:prstGeom prst="rect">
            <a:avLst/>
          </a:prstGeom>
          <a:noFill/>
          <a:ln/>
        </p:spPr>
        <p:txBody>
          <a:bodyPr wrap="square" lIns="0" tIns="0" rIns="0" bIns="0" rtlCol="0" anchor="t"/>
          <a:lstStyle/>
          <a:p>
            <a:pPr indent="0" marL="0">
              <a:buNone/>
            </a:pPr>
            <a:r>
              <a:rPr lang="en-US" sz="1700" i="1" dirty="0">
                <a:solidFill>
                  <a:schemeClr val="tx2"/>
                </a:solidFill>
                <a:latin typeface="Cambria" pitchFamily="34" charset="0"/>
                <a:ea typeface="Cambria" pitchFamily="34" charset="-122"/>
                <a:cs typeface="Cambria" pitchFamily="34" charset="-120"/>
              </a:rPr>
              <a:t>“Biggest deal we have and it's been sitting three weeks.”</a:t>
            </a:r>
            <a:endParaRPr lang="en-US" sz="1700" dirty="0"/>
          </a:p>
        </p:txBody>
      </p:sp>
      <p:sp>
        <p:nvSpPr>
          <p:cNvPr id="18" name="Text 16"/>
          <p:cNvSpPr txBox="1"/>
          <p:nvPr/>
        </p:nvSpPr>
        <p:spPr>
          <a:xfrm>
            <a:off x="5394960" y="5742432"/>
            <a:ext cx="6035040" cy="274320"/>
          </a:xfrm>
          <a:prstGeom prst="rect">
            <a:avLst/>
          </a:prstGeom>
          <a:noFill/>
          <a:ln/>
        </p:spPr>
        <p:txBody>
          <a:bodyPr wrap="square" lIns="0" tIns="0" rIns="0" bIns="0" rtlCol="0" anchor="t"/>
          <a:lstStyle/>
          <a:p>
            <a:pPr indent="0" marL="0">
              <a:buNone/>
            </a:pPr>
            <a:r>
              <a:rPr lang="en-US" sz="1200" dirty="0">
                <a:solidFill>
                  <a:schemeClr val="accent4"/>
                </a:solidFill>
              </a:rPr>
              <a:t>Bhavin, on FinEdge</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Five whys lead to one root cause: no shared working memory</a:t>
            </a:r>
            <a:endParaRPr lang="en-US" sz="3000" dirty="0"/>
          </a:p>
        </p:txBody>
      </p:sp>
      <p:sp>
        <p:nvSpPr>
          <p:cNvPr id="3" name="Shape 1"/>
          <p:cNvSpPr/>
          <p:nvPr/>
        </p:nvSpPr>
        <p:spPr>
          <a:xfrm>
            <a:off x="548640" y="1508760"/>
            <a:ext cx="2103120" cy="2514600"/>
          </a:xfrm>
          <a:prstGeom prst="roundRect">
            <a:avLst>
              <a:gd name="adj" fmla="val 5217"/>
            </a:avLst>
          </a:prstGeom>
          <a:solidFill>
            <a:schemeClr val="bg2"/>
          </a:solidFill>
          <a:ln/>
        </p:spPr>
      </p:sp>
      <p:sp>
        <p:nvSpPr>
          <p:cNvPr id="4" name="Shape 2"/>
          <p:cNvSpPr/>
          <p:nvPr/>
        </p:nvSpPr>
        <p:spPr>
          <a:xfrm>
            <a:off x="777240" y="1737360"/>
            <a:ext cx="457200" cy="457200"/>
          </a:xfrm>
          <a:prstGeom prst="ellipse">
            <a:avLst/>
          </a:prstGeom>
          <a:solidFill>
            <a:schemeClr val="accent1"/>
          </a:solidFill>
          <a:ln/>
        </p:spPr>
      </p:sp>
      <p:sp>
        <p:nvSpPr>
          <p:cNvPr id="5" name="Text 3"/>
          <p:cNvSpPr txBox="1"/>
          <p:nvPr/>
        </p:nvSpPr>
        <p:spPr>
          <a:xfrm>
            <a:off x="777240" y="1737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777240" y="2331720"/>
            <a:ext cx="1645920" cy="640080"/>
          </a:xfrm>
          <a:prstGeom prst="rect">
            <a:avLst/>
          </a:prstGeom>
          <a:noFill/>
          <a:ln/>
        </p:spPr>
        <p:txBody>
          <a:bodyPr wrap="square" lIns="0" tIns="0" rIns="0" bIns="0" rtlCol="0" anchor="t"/>
          <a:lstStyle/>
          <a:p>
            <a:pPr indent="0" marL="0">
              <a:buNone/>
            </a:pPr>
            <a:r>
              <a:rPr lang="en-US" sz="1700" b="1" dirty="0">
                <a:solidFill>
                  <a:schemeClr val="tx2"/>
                </a:solidFill>
              </a:rPr>
              <a:t>Deals slip</a:t>
            </a:r>
            <a:endParaRPr lang="en-US" sz="1700" dirty="0"/>
          </a:p>
        </p:txBody>
      </p:sp>
      <p:sp>
        <p:nvSpPr>
          <p:cNvPr id="7" name="Text 5"/>
          <p:cNvSpPr txBox="1"/>
          <p:nvPr/>
        </p:nvSpPr>
        <p:spPr>
          <a:xfrm>
            <a:off x="777240" y="2971800"/>
            <a:ext cx="1645920" cy="960120"/>
          </a:xfrm>
          <a:prstGeom prst="rect">
            <a:avLst/>
          </a:prstGeom>
          <a:noFill/>
          <a:ln/>
        </p:spPr>
        <p:txBody>
          <a:bodyPr wrap="square" lIns="0" tIns="0" rIns="0" bIns="0" rtlCol="0" anchor="t"/>
          <a:lstStyle/>
          <a:p>
            <a:pPr indent="0" marL="0">
              <a:buNone/>
            </a:pPr>
            <a:r>
              <a:rPr lang="en-US" sz="1400" dirty="0">
                <a:solidFill>
                  <a:schemeClr val="tx1"/>
                </a:solidFill>
              </a:rPr>
              <a:t>Client asks and AtliQ's own promises are missed.</a:t>
            </a:r>
            <a:endParaRPr lang="en-US" sz="1400" dirty="0"/>
          </a:p>
        </p:txBody>
      </p:sp>
      <p:sp>
        <p:nvSpPr>
          <p:cNvPr id="8" name="Shape 6"/>
          <p:cNvSpPr/>
          <p:nvPr/>
        </p:nvSpPr>
        <p:spPr>
          <a:xfrm>
            <a:off x="2788920" y="1508760"/>
            <a:ext cx="2103120" cy="2514600"/>
          </a:xfrm>
          <a:prstGeom prst="roundRect">
            <a:avLst>
              <a:gd name="adj" fmla="val 5217"/>
            </a:avLst>
          </a:prstGeom>
          <a:solidFill>
            <a:schemeClr val="bg2"/>
          </a:solidFill>
          <a:ln/>
        </p:spPr>
      </p:sp>
      <p:sp>
        <p:nvSpPr>
          <p:cNvPr id="9" name="Shape 7"/>
          <p:cNvSpPr/>
          <p:nvPr/>
        </p:nvSpPr>
        <p:spPr>
          <a:xfrm>
            <a:off x="3017520" y="1737360"/>
            <a:ext cx="457200" cy="457200"/>
          </a:xfrm>
          <a:prstGeom prst="ellipse">
            <a:avLst/>
          </a:prstGeom>
          <a:solidFill>
            <a:schemeClr val="accent1"/>
          </a:solidFill>
          <a:ln/>
        </p:spPr>
      </p:sp>
      <p:sp>
        <p:nvSpPr>
          <p:cNvPr id="10" name="Text 8"/>
          <p:cNvSpPr txBox="1"/>
          <p:nvPr/>
        </p:nvSpPr>
        <p:spPr>
          <a:xfrm>
            <a:off x="3017520" y="1737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3017520" y="2331720"/>
            <a:ext cx="1645920" cy="640080"/>
          </a:xfrm>
          <a:prstGeom prst="rect">
            <a:avLst/>
          </a:prstGeom>
          <a:noFill/>
          <a:ln/>
        </p:spPr>
        <p:txBody>
          <a:bodyPr wrap="square" lIns="0" tIns="0" rIns="0" bIns="0" rtlCol="0" anchor="t"/>
          <a:lstStyle/>
          <a:p>
            <a:pPr indent="0" marL="0">
              <a:buNone/>
            </a:pPr>
            <a:r>
              <a:rPr lang="en-US" sz="1700" b="1" dirty="0">
                <a:solidFill>
                  <a:schemeClr val="tx2"/>
                </a:solidFill>
              </a:rPr>
              <a:t>No one sees what's owed</a:t>
            </a:r>
            <a:endParaRPr lang="en-US" sz="1700" dirty="0"/>
          </a:p>
        </p:txBody>
      </p:sp>
      <p:sp>
        <p:nvSpPr>
          <p:cNvPr id="12" name="Text 10"/>
          <p:cNvSpPr txBox="1"/>
          <p:nvPr/>
        </p:nvSpPr>
        <p:spPr>
          <a:xfrm>
            <a:off x="3017520" y="2971800"/>
            <a:ext cx="1645920" cy="960120"/>
          </a:xfrm>
          <a:prstGeom prst="rect">
            <a:avLst/>
          </a:prstGeom>
          <a:noFill/>
          <a:ln/>
        </p:spPr>
        <p:txBody>
          <a:bodyPr wrap="square" lIns="0" tIns="0" rIns="0" bIns="0" rtlCol="0" anchor="t"/>
          <a:lstStyle/>
          <a:p>
            <a:pPr indent="0" marL="0">
              <a:buNone/>
            </a:pPr>
            <a:r>
              <a:rPr lang="en-US" sz="1400" dirty="0">
                <a:solidFill>
                  <a:schemeClr val="tx1"/>
                </a:solidFill>
              </a:rPr>
              <a:t>Deadlines live in personal inboxes and scribbles.</a:t>
            </a:r>
            <a:endParaRPr lang="en-US" sz="1400" dirty="0"/>
          </a:p>
        </p:txBody>
      </p:sp>
      <p:sp>
        <p:nvSpPr>
          <p:cNvPr id="13" name="Shape 11"/>
          <p:cNvSpPr/>
          <p:nvPr/>
        </p:nvSpPr>
        <p:spPr>
          <a:xfrm>
            <a:off x="5029200" y="1508760"/>
            <a:ext cx="2103120" cy="2514600"/>
          </a:xfrm>
          <a:prstGeom prst="roundRect">
            <a:avLst>
              <a:gd name="adj" fmla="val 5217"/>
            </a:avLst>
          </a:prstGeom>
          <a:solidFill>
            <a:schemeClr val="bg2"/>
          </a:solidFill>
          <a:ln/>
        </p:spPr>
      </p:sp>
      <p:sp>
        <p:nvSpPr>
          <p:cNvPr id="14" name="Shape 12"/>
          <p:cNvSpPr/>
          <p:nvPr/>
        </p:nvSpPr>
        <p:spPr>
          <a:xfrm>
            <a:off x="5257800" y="1737360"/>
            <a:ext cx="457200" cy="457200"/>
          </a:xfrm>
          <a:prstGeom prst="ellipse">
            <a:avLst/>
          </a:prstGeom>
          <a:solidFill>
            <a:schemeClr val="accent1"/>
          </a:solidFill>
          <a:ln/>
        </p:spPr>
      </p:sp>
      <p:sp>
        <p:nvSpPr>
          <p:cNvPr id="15" name="Text 13"/>
          <p:cNvSpPr txBox="1"/>
          <p:nvPr/>
        </p:nvSpPr>
        <p:spPr>
          <a:xfrm>
            <a:off x="5257800" y="1737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5257800" y="2331720"/>
            <a:ext cx="1645920" cy="640080"/>
          </a:xfrm>
          <a:prstGeom prst="rect">
            <a:avLst/>
          </a:prstGeom>
          <a:noFill/>
          <a:ln/>
        </p:spPr>
        <p:txBody>
          <a:bodyPr wrap="square" lIns="0" tIns="0" rIns="0" bIns="0" rtlCol="0" anchor="t"/>
          <a:lstStyle/>
          <a:p>
            <a:pPr indent="0" marL="0">
              <a:buNone/>
            </a:pPr>
            <a:r>
              <a:rPr lang="en-US" sz="1700" b="1" dirty="0">
                <a:solidFill>
                  <a:schemeClr val="tx2"/>
                </a:solidFill>
              </a:rPr>
              <a:t>Capture is a chore</a:t>
            </a:r>
            <a:endParaRPr lang="en-US" sz="1700" dirty="0"/>
          </a:p>
        </p:txBody>
      </p:sp>
      <p:sp>
        <p:nvSpPr>
          <p:cNvPr id="17" name="Text 15"/>
          <p:cNvSpPr txBox="1"/>
          <p:nvPr/>
        </p:nvSpPr>
        <p:spPr>
          <a:xfrm>
            <a:off x="5257800" y="2971800"/>
            <a:ext cx="1645920" cy="960120"/>
          </a:xfrm>
          <a:prstGeom prst="rect">
            <a:avLst/>
          </a:prstGeom>
          <a:noFill/>
          <a:ln/>
        </p:spPr>
        <p:txBody>
          <a:bodyPr wrap="square" lIns="0" tIns="0" rIns="0" bIns="0" rtlCol="0" anchor="t"/>
          <a:lstStyle/>
          <a:p>
            <a:pPr indent="0" marL="0">
              <a:buNone/>
            </a:pPr>
            <a:r>
              <a:rPr lang="en-US" sz="1400" dirty="0">
                <a:solidFill>
                  <a:schemeClr val="tx1"/>
                </a:solidFill>
              </a:rPr>
              <a:t>CRM entry is a separate step, done later at a laptop.</a:t>
            </a:r>
            <a:endParaRPr lang="en-US" sz="1400" dirty="0"/>
          </a:p>
        </p:txBody>
      </p:sp>
      <p:sp>
        <p:nvSpPr>
          <p:cNvPr id="18" name="Shape 16"/>
          <p:cNvSpPr/>
          <p:nvPr/>
        </p:nvSpPr>
        <p:spPr>
          <a:xfrm>
            <a:off x="7269480" y="1508760"/>
            <a:ext cx="2103120" cy="2514600"/>
          </a:xfrm>
          <a:prstGeom prst="roundRect">
            <a:avLst>
              <a:gd name="adj" fmla="val 5217"/>
            </a:avLst>
          </a:prstGeom>
          <a:solidFill>
            <a:schemeClr val="bg2"/>
          </a:solidFill>
          <a:ln/>
        </p:spPr>
      </p:sp>
      <p:sp>
        <p:nvSpPr>
          <p:cNvPr id="19" name="Shape 17"/>
          <p:cNvSpPr/>
          <p:nvPr/>
        </p:nvSpPr>
        <p:spPr>
          <a:xfrm>
            <a:off x="7498080" y="1737360"/>
            <a:ext cx="457200" cy="457200"/>
          </a:xfrm>
          <a:prstGeom prst="ellipse">
            <a:avLst/>
          </a:prstGeom>
          <a:solidFill>
            <a:schemeClr val="accent1"/>
          </a:solidFill>
          <a:ln/>
        </p:spPr>
      </p:sp>
      <p:sp>
        <p:nvSpPr>
          <p:cNvPr id="20" name="Text 18"/>
          <p:cNvSpPr txBox="1"/>
          <p:nvPr/>
        </p:nvSpPr>
        <p:spPr>
          <a:xfrm>
            <a:off x="7498080" y="1737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7498080" y="2331720"/>
            <a:ext cx="1645920" cy="640080"/>
          </a:xfrm>
          <a:prstGeom prst="rect">
            <a:avLst/>
          </a:prstGeom>
          <a:noFill/>
          <a:ln/>
        </p:spPr>
        <p:txBody>
          <a:bodyPr wrap="square" lIns="0" tIns="0" rIns="0" bIns="0" rtlCol="0" anchor="t"/>
          <a:lstStyle/>
          <a:p>
            <a:pPr indent="0" marL="0">
              <a:buNone/>
            </a:pPr>
            <a:r>
              <a:rPr lang="en-US" sz="1700" b="1" dirty="0">
                <a:solidFill>
                  <a:schemeClr val="tx2"/>
                </a:solidFill>
              </a:rPr>
              <a:t>No payoff in the moment</a:t>
            </a:r>
            <a:endParaRPr lang="en-US" sz="1700" dirty="0"/>
          </a:p>
        </p:txBody>
      </p:sp>
      <p:sp>
        <p:nvSpPr>
          <p:cNvPr id="22" name="Text 20"/>
          <p:cNvSpPr txBox="1"/>
          <p:nvPr/>
        </p:nvSpPr>
        <p:spPr>
          <a:xfrm>
            <a:off x="7498080" y="2971800"/>
            <a:ext cx="1645920" cy="960120"/>
          </a:xfrm>
          <a:prstGeom prst="rect">
            <a:avLst/>
          </a:prstGeom>
          <a:noFill/>
          <a:ln/>
        </p:spPr>
        <p:txBody>
          <a:bodyPr wrap="square" lIns="0" tIns="0" rIns="0" bIns="0" rtlCol="0" anchor="t"/>
          <a:lstStyle/>
          <a:p>
            <a:pPr indent="0" marL="0">
              <a:buNone/>
            </a:pPr>
            <a:r>
              <a:rPr lang="en-US" sz="1400" dirty="0">
                <a:solidFill>
                  <a:schemeClr val="tx1"/>
                </a:solidFill>
              </a:rPr>
              <a:t>'Update the CRM same-day' failed in April and in July.</a:t>
            </a:r>
            <a:endParaRPr lang="en-US" sz="1400" dirty="0"/>
          </a:p>
        </p:txBody>
      </p:sp>
      <p:sp>
        <p:nvSpPr>
          <p:cNvPr id="23" name="Shape 21"/>
          <p:cNvSpPr/>
          <p:nvPr/>
        </p:nvSpPr>
        <p:spPr>
          <a:xfrm>
            <a:off x="9509760" y="1508760"/>
            <a:ext cx="2103120" cy="2514600"/>
          </a:xfrm>
          <a:prstGeom prst="roundRect">
            <a:avLst>
              <a:gd name="adj" fmla="val 5217"/>
            </a:avLst>
          </a:prstGeom>
          <a:solidFill>
            <a:schemeClr val="bg2"/>
          </a:solidFill>
          <a:ln/>
        </p:spPr>
      </p:sp>
      <p:sp>
        <p:nvSpPr>
          <p:cNvPr id="24" name="Shape 22"/>
          <p:cNvSpPr/>
          <p:nvPr/>
        </p:nvSpPr>
        <p:spPr>
          <a:xfrm>
            <a:off x="9738360" y="1737360"/>
            <a:ext cx="457200" cy="457200"/>
          </a:xfrm>
          <a:prstGeom prst="ellipse">
            <a:avLst/>
          </a:prstGeom>
          <a:solidFill>
            <a:schemeClr val="accent1"/>
          </a:solidFill>
          <a:ln/>
        </p:spPr>
      </p:sp>
      <p:sp>
        <p:nvSpPr>
          <p:cNvPr id="25" name="Text 23"/>
          <p:cNvSpPr txBox="1"/>
          <p:nvPr/>
        </p:nvSpPr>
        <p:spPr>
          <a:xfrm>
            <a:off x="9738360" y="1737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Text 24"/>
          <p:cNvSpPr txBox="1"/>
          <p:nvPr/>
        </p:nvSpPr>
        <p:spPr>
          <a:xfrm>
            <a:off x="9738360" y="2331720"/>
            <a:ext cx="1645920" cy="640080"/>
          </a:xfrm>
          <a:prstGeom prst="rect">
            <a:avLst/>
          </a:prstGeom>
          <a:noFill/>
          <a:ln/>
        </p:spPr>
        <p:txBody>
          <a:bodyPr wrap="square" lIns="0" tIns="0" rIns="0" bIns="0" rtlCol="0" anchor="t"/>
          <a:lstStyle/>
          <a:p>
            <a:pPr indent="0" marL="0">
              <a:buNone/>
            </a:pPr>
            <a:r>
              <a:rPr lang="en-US" sz="1700" b="1" dirty="0">
                <a:solidFill>
                  <a:schemeClr val="tx2"/>
                </a:solidFill>
              </a:rPr>
              <a:t>Passive system</a:t>
            </a:r>
            <a:endParaRPr lang="en-US" sz="1700" dirty="0"/>
          </a:p>
        </p:txBody>
      </p:sp>
      <p:sp>
        <p:nvSpPr>
          <p:cNvPr id="27" name="Text 25"/>
          <p:cNvSpPr txBox="1"/>
          <p:nvPr/>
        </p:nvSpPr>
        <p:spPr>
          <a:xfrm>
            <a:off x="9738360" y="2971800"/>
            <a:ext cx="1645920" cy="960120"/>
          </a:xfrm>
          <a:prstGeom prst="rect">
            <a:avLst/>
          </a:prstGeom>
          <a:noFill/>
          <a:ln/>
        </p:spPr>
        <p:txBody>
          <a:bodyPr wrap="square" lIns="0" tIns="0" rIns="0" bIns="0" rtlCol="0" anchor="t"/>
          <a:lstStyle/>
          <a:p>
            <a:pPr indent="0" marL="0">
              <a:buNone/>
            </a:pPr>
            <a:r>
              <a:rPr lang="en-US" sz="1400" dirty="0">
                <a:solidFill>
                  <a:schemeClr val="tx1"/>
                </a:solidFill>
              </a:rPr>
              <a:t>The CRM is a database that depends on discipline.</a:t>
            </a:r>
            <a:endParaRPr lang="en-US" sz="1400" dirty="0"/>
          </a:p>
        </p:txBody>
      </p:sp>
      <p:sp>
        <p:nvSpPr>
          <p:cNvPr id="28" name="Shape 26"/>
          <p:cNvSpPr/>
          <p:nvPr/>
        </p:nvSpPr>
        <p:spPr>
          <a:xfrm>
            <a:off x="548640" y="4343400"/>
            <a:ext cx="11064240" cy="1463040"/>
          </a:xfrm>
          <a:prstGeom prst="roundRect">
            <a:avLst>
              <a:gd name="adj" fmla="val 7500"/>
            </a:avLst>
          </a:prstGeom>
          <a:solidFill>
            <a:schemeClr val="tx2"/>
          </a:solidFill>
          <a:ln/>
        </p:spPr>
      </p:sp>
      <p:sp>
        <p:nvSpPr>
          <p:cNvPr id="29" name="Text 27"/>
          <p:cNvSpPr txBox="1"/>
          <p:nvPr/>
        </p:nvSpPr>
        <p:spPr>
          <a:xfrm>
            <a:off x="868680" y="4526280"/>
            <a:ext cx="2743200" cy="320040"/>
          </a:xfrm>
          <a:prstGeom prst="rect">
            <a:avLst/>
          </a:prstGeom>
          <a:noFill/>
          <a:ln/>
        </p:spPr>
        <p:txBody>
          <a:bodyPr wrap="square" lIns="0" tIns="0" rIns="0" bIns="0" rtlCol="0" anchor="t"/>
          <a:lstStyle/>
          <a:p>
            <a:pPr indent="0" marL="0">
              <a:buNone/>
            </a:pPr>
            <a:r>
              <a:rPr lang="en-US" sz="1300" b="1" dirty="0">
                <a:solidFill>
                  <a:schemeClr val="accent2"/>
                </a:solidFill>
              </a:rPr>
              <a:t>Root cause</a:t>
            </a:r>
            <a:endParaRPr lang="en-US" sz="1300" dirty="0"/>
          </a:p>
        </p:txBody>
      </p:sp>
      <p:sp>
        <p:nvSpPr>
          <p:cNvPr id="30" name="Text 28"/>
          <p:cNvSpPr txBox="1"/>
          <p:nvPr/>
        </p:nvSpPr>
        <p:spPr>
          <a:xfrm>
            <a:off x="868680" y="4846320"/>
            <a:ext cx="10424160" cy="1051560"/>
          </a:xfrm>
          <a:prstGeom prst="rect">
            <a:avLst/>
          </a:prstGeom>
          <a:noFill/>
          <a:ln/>
        </p:spPr>
        <p:txBody>
          <a:bodyPr wrap="square" lIns="0" tIns="0" rIns="0" bIns="0" rtlCol="0" anchor="t"/>
          <a:lstStyle/>
          <a:p>
            <a:pPr indent="0" marL="0">
              <a:buNone/>
            </a:pPr>
            <a:r>
              <a:rPr lang="en-US" sz="1800" dirty="0">
                <a:solidFill>
                  <a:schemeClr val="bg1"/>
                </a:solidFill>
                <a:latin typeface="Cambria" pitchFamily="34" charset="0"/>
                <a:ea typeface="Cambria" pitchFamily="34" charset="-122"/>
                <a:cs typeface="Cambria" pitchFamily="34" charset="-120"/>
              </a:rPr>
              <a:t>Nothing turns the conversations where selling happens (emails, calls, meetings) into structured, owned, dated next actions. The fix has to do the capture for the sellers, not ask more of them.</a:t>
            </a:r>
            <a:endParaRPr lang="en-US" sz="18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The gap shows up account by account</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011680"/>
                <a:gridCol w="4572000"/>
                <a:gridCol w="3383280"/>
                <a:gridCol w="1097280"/>
              </a:tblGrid>
              <a:tr h="566928">
                <a:tc>
                  <a:txBody>
                    <a:bodyPr/>
                    <a:lstStyle/>
                    <a:p>
                      <a:pPr indent="0" marL="0">
                        <a:buNone/>
                      </a:pPr>
                      <a:r>
                        <a:rPr lang="en-US" sz="1400" b="1" dirty="0">
                          <a:solidFill>
                            <a:schemeClr val="bg1"/>
                          </a:solidFill>
                        </a:rPr>
                        <a:t>Account</a:t>
                      </a:r>
                      <a:endParaRPr lang="en-US" sz="1400" dirty="0"/>
                    </a:p>
                  </a:txBody>
                  <a:tcPr marL="101600" marR="101600" marT="50800" marB="508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What the client said</a:t>
                      </a:r>
                      <a:endParaRPr lang="en-US" sz="1400" dirty="0"/>
                    </a:p>
                  </a:txBody>
                  <a:tcPr marL="101600" marR="101600" marT="50800" marB="508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What happened</a:t>
                      </a:r>
                      <a:endParaRPr lang="en-US" sz="1400" dirty="0"/>
                    </a:p>
                  </a:txBody>
                  <a:tcPr marL="101600" marR="101600" marT="50800" marB="508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Days waiting</a:t>
                      </a:r>
                      <a:endParaRPr lang="en-US" sz="1400" dirty="0"/>
                    </a:p>
                  </a:txBody>
                  <a:tcPr marL="101600" marR="101600" marT="50800" marB="508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tx1"/>
                          </a:solidFill>
                        </a:rPr>
                        <a:t>FinEdge ($95k)</a:t>
                      </a:r>
                      <a:endParaRPr lang="en-US" sz="1400" dirty="0"/>
                    </a:p>
                  </a:txBody>
                  <a:tcPr marL="101600" marR="101600" marT="50800" marB="508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Compliance cleared; please confirm your availability for the commercial call</a:t>
                      </a:r>
                      <a:endParaRPr lang="en-US" sz="1400" dirty="0"/>
                    </a:p>
                  </a:txBody>
                  <a:tcPr marL="101600" marR="101600" marT="50800" marB="508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 reply</a:t>
                      </a:r>
                      <a:endParaRPr lang="en-US" sz="1400" dirty="0"/>
                    </a:p>
                  </a:txBody>
                  <a:tcPr marL="101600" marR="101600" marT="50800" marB="508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3"/>
                          </a:solidFill>
                        </a:rPr>
                        <a:t>21</a:t>
                      </a:r>
                      <a:endParaRPr lang="en-US" sz="1400" dirty="0"/>
                    </a:p>
                  </a:txBody>
                  <a:tcPr marL="101600" marR="101600" marT="50800" marB="508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Meridian ($45k)</a:t>
                      </a:r>
                      <a:endParaRPr lang="en-US" sz="1400" dirty="0"/>
                    </a:p>
                  </a:txBody>
                  <a:tcPr marL="101600" marR="101600" marT="50800" marB="508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Two proposal questions before our mid-July budget review</a:t>
                      </a:r>
                      <a:endParaRPr lang="en-US" sz="1400" dirty="0"/>
                    </a:p>
                  </a:txBody>
                  <a:tcPr marL="101600" marR="101600" marT="50800" marB="508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Unanswered; deal also entered twice in the CRM</a:t>
                      </a:r>
                      <a:endParaRPr lang="en-US" sz="1400" dirty="0"/>
                    </a:p>
                  </a:txBody>
                  <a:tcPr marL="101600" marR="101600" marT="50800" marB="508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3"/>
                          </a:solidFill>
                        </a:rPr>
                        <a:t>24</a:t>
                      </a:r>
                      <a:endParaRPr lang="en-US" sz="1400" dirty="0"/>
                    </a:p>
                  </a:txBody>
                  <a:tcPr marL="101600" marR="101600" marT="50800" marB="508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ClearPath ($40k)</a:t>
                      </a:r>
                      <a:endParaRPr lang="en-US" sz="1400" dirty="0"/>
                    </a:p>
                  </a:txBody>
                  <a:tcPr marL="101600" marR="101600" marT="50800" marB="508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Budget unfrozen: “does the 40k estimate still hold?”</a:t>
                      </a:r>
                      <a:endParaRPr lang="en-US" sz="1400" dirty="0"/>
                    </a:p>
                  </a:txBody>
                  <a:tcPr marL="101600" marR="101600" marT="50800" marB="508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 reply; CRM still says Lost</a:t>
                      </a:r>
                      <a:endParaRPr lang="en-US" sz="1400" dirty="0"/>
                    </a:p>
                  </a:txBody>
                  <a:tcPr marL="101600" marR="101600" marT="50800" marB="508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3"/>
                          </a:solidFill>
                        </a:rPr>
                        <a:t>31</a:t>
                      </a:r>
                      <a:endParaRPr lang="en-US" sz="1400" dirty="0"/>
                    </a:p>
                  </a:txBody>
                  <a:tcPr marL="101600" marR="101600" marT="50800" marB="508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Zenlytics</a:t>
                      </a:r>
                      <a:endParaRPr lang="en-US" sz="1400" dirty="0"/>
                    </a:p>
                  </a:txBody>
                  <a:tcPr marL="101600" marR="101600" marT="50800" marB="508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Bhavin: “I'll send a calendar invite shortly”</a:t>
                      </a:r>
                      <a:endParaRPr lang="en-US" sz="1400" dirty="0"/>
                    </a:p>
                  </a:txBody>
                  <a:tcPr marL="101600" marR="101600" marT="50800" marB="508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Never sent</a:t>
                      </a:r>
                      <a:endParaRPr lang="en-US" sz="1400" dirty="0"/>
                    </a:p>
                  </a:txBody>
                  <a:tcPr marL="101600" marR="101600" marT="50800" marB="508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3"/>
                          </a:solidFill>
                        </a:rPr>
                        <a:t>35</a:t>
                      </a:r>
                      <a:endParaRPr lang="en-US" sz="1400" dirty="0"/>
                    </a:p>
                  </a:txBody>
                  <a:tcPr marL="101600" marR="101600" marT="50800" marB="508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Trustline ($48k)</a:t>
                      </a:r>
                      <a:endParaRPr lang="en-US" sz="1400" dirty="0"/>
                    </a:p>
                  </a:txBody>
                  <a:tcPr marL="101600" marR="101600" marT="50800" marB="508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Board approved; please send the revised contract</a:t>
                      </a:r>
                      <a:endParaRPr lang="en-US" sz="1400" dirty="0"/>
                    </a:p>
                  </a:txBody>
                  <a:tcPr marL="101600" marR="101600" marT="50800" marB="508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CRM still says Proposal Sent</a:t>
                      </a:r>
                      <a:endParaRPr lang="en-US" sz="1400" dirty="0"/>
                    </a:p>
                  </a:txBody>
                  <a:tcPr marL="101600" marR="101600" marT="50800" marB="508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3"/>
                          </a:solidFill>
                        </a:rPr>
                        <a:t>-</a:t>
                      </a:r>
                      <a:endParaRPr lang="en-US" sz="1400" dirty="0"/>
                    </a:p>
                  </a:txBody>
                  <a:tcPr marL="101600" marR="101600" marT="50800" marB="508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Harbor &amp; Finch</a:t>
                      </a:r>
                      <a:endParaRPr lang="en-US" sz="1400" dirty="0"/>
                    </a:p>
                  </a:txBody>
                  <a:tcPr marL="101600" marR="101600" marT="50800" marB="508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Referral from FinEdge: “Do you have time in the next couple of weeks?”</a:t>
                      </a:r>
                      <a:endParaRPr lang="en-US" sz="1400" dirty="0"/>
                    </a:p>
                  </a:txBody>
                  <a:tcPr marL="101600" marR="101600" marT="50800" marB="508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 reply; company not in the CRM</a:t>
                      </a:r>
                      <a:endParaRPr lang="en-US" sz="1400" dirty="0"/>
                    </a:p>
                  </a:txBody>
                  <a:tcPr marL="101600" marR="101600" marT="50800" marB="508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3"/>
                          </a:solidFill>
                        </a:rPr>
                        <a:t>13</a:t>
                      </a:r>
                      <a:endParaRPr lang="en-US" sz="1400" dirty="0"/>
                    </a:p>
                  </a:txBody>
                  <a:tcPr marL="101600" marR="101600" marT="50800" marB="50800" anchor="ctr">
                    <a:lnL w="6350" cap="flat" cmpd="sng" algn="ctr">
                      <a:solidFill>
                        <a:srgbClr val="D5DFDD"/>
                      </a:solidFill>
                      <a:prstDash val="solid"/>
                      <a:round/>
                      <a:headEnd type="none" w="med" len="med"/>
                      <a:tailEnd type="none" w="med" len="med"/>
                    </a:lnL>
                    <a:lnR w="6350" cap="flat" cmpd="sng" algn="ctr">
                      <a:solidFill>
                        <a:srgbClr val="D5DFDD"/>
                      </a:solidFill>
                      <a:prstDash val="solid"/>
                      <a:round/>
                      <a:headEnd type="none" w="med" len="med"/>
                      <a:tailEnd type="none" w="med" len="med"/>
                    </a:lnR>
                    <a:lnT w="6350" cap="flat" cmpd="sng" algn="ctr">
                      <a:solidFill>
                        <a:srgbClr val="D5DFDD"/>
                      </a:solidFill>
                      <a:prstDash val="solid"/>
                      <a:round/>
                      <a:headEnd type="none" w="med" len="med"/>
                      <a:tailEnd type="none" w="med" len="med"/>
                    </a:lnT>
                    <a:lnB w="6350" cap="flat" cmpd="sng" algn="ctr">
                      <a:solidFill>
                        <a:srgbClr val="D5DFDD"/>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548640" y="5760720"/>
            <a:ext cx="11064240" cy="457200"/>
          </a:xfrm>
          <a:prstGeom prst="rect">
            <a:avLst/>
          </a:prstGeom>
          <a:noFill/>
          <a:ln/>
        </p:spPr>
        <p:txBody>
          <a:bodyPr wrap="square" lIns="0" tIns="0" rIns="0" bIns="0" rtlCol="0" anchor="t"/>
          <a:lstStyle/>
          <a:p>
            <a:pPr indent="0" marL="0">
              <a:buNone/>
            </a:pPr>
            <a:r>
              <a:rPr lang="en-US" sz="1200" dirty="0">
                <a:solidFill>
                  <a:schemeClr val="accent4"/>
                </a:solidFill>
              </a:rPr>
              <a:t>Days waiting as of 10 July 2026. Five warm leads never reached the CRM: Harbor &amp; Finch, Nimbus Lending, PixelWorks, Lumino Fitness, Ridgeline Foods.</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We scored 15 AI opportunities and built the top six</a:t>
            </a:r>
            <a:endParaRPr lang="en-US" sz="3000" dirty="0"/>
          </a:p>
        </p:txBody>
      </p:sp>
      <p:graphicFrame>
        <p:nvGraphicFramePr>
          <p:cNvPr id="3" name="Chart 0" descr=""/>
          <p:cNvGraphicFramePr/>
          <p:nvPr/>
        </p:nvGraphicFramePr>
        <p:xfrm>
          <a:off x="548640" y="137160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63040"/>
            <a:ext cx="3749040" cy="2148840"/>
          </a:xfrm>
          <a:prstGeom prst="roundRect">
            <a:avLst>
              <a:gd name="adj" fmla="val 5106"/>
            </a:avLst>
          </a:prstGeom>
          <a:solidFill>
            <a:schemeClr val="bg2"/>
          </a:solidFill>
          <a:ln/>
        </p:spPr>
      </p:sp>
      <p:sp>
        <p:nvSpPr>
          <p:cNvPr id="5" name="Text 2"/>
          <p:cNvSpPr txBox="1"/>
          <p:nvPr/>
        </p:nvSpPr>
        <p:spPr>
          <a:xfrm>
            <a:off x="8138160" y="1645920"/>
            <a:ext cx="3291840" cy="365760"/>
          </a:xfrm>
          <a:prstGeom prst="rect">
            <a:avLst/>
          </a:prstGeom>
          <a:noFill/>
          <a:ln/>
        </p:spPr>
        <p:txBody>
          <a:bodyPr wrap="square" lIns="0" tIns="0" rIns="0" bIns="0" rtlCol="0" anchor="t"/>
          <a:lstStyle/>
          <a:p>
            <a:pPr indent="0" marL="0">
              <a:buNone/>
            </a:pPr>
            <a:r>
              <a:rPr lang="en-US" sz="1600" b="1" dirty="0">
                <a:solidFill>
                  <a:schemeClr val="accent1"/>
                </a:solidFill>
              </a:rPr>
              <a:t>Built: the six Do-first ideas</a:t>
            </a:r>
            <a:endParaRPr lang="en-US" sz="1600" dirty="0"/>
          </a:p>
        </p:txBody>
      </p:sp>
      <p:sp>
        <p:nvSpPr>
          <p:cNvPr id="6" name="Text 3"/>
          <p:cNvSpPr txBox="1"/>
          <p:nvPr/>
        </p:nvSpPr>
        <p:spPr>
          <a:xfrm>
            <a:off x="8138160" y="2057400"/>
            <a:ext cx="3291840" cy="1463040"/>
          </a:xfrm>
          <a:prstGeom prst="rect">
            <a:avLst/>
          </a:prstGeom>
          <a:noFill/>
          <a:ln/>
        </p:spPr>
        <p:txBody>
          <a:bodyPr wrap="square" lIns="0" tIns="0" rIns="0" bIns="0" rtlCol="0" anchor="t"/>
          <a:lstStyle/>
          <a:p>
            <a:pPr indent="0" marL="0">
              <a:buNone/>
            </a:pPr>
            <a:r>
              <a:rPr lang="en-US" sz="1400" dirty="0">
                <a:solidFill>
                  <a:schemeClr val="tx1"/>
                </a:solidFill>
              </a:rPr>
              <a:t>Folded into four MVP features. The review pack and reply drafts came along cheaply because they reuse the same ledger.</a:t>
            </a:r>
            <a:endParaRPr lang="en-US" sz="1400" dirty="0"/>
          </a:p>
        </p:txBody>
      </p:sp>
      <p:sp>
        <p:nvSpPr>
          <p:cNvPr id="7" name="Shape 4"/>
          <p:cNvSpPr/>
          <p:nvPr/>
        </p:nvSpPr>
        <p:spPr>
          <a:xfrm>
            <a:off x="7863840" y="3840480"/>
            <a:ext cx="3749040" cy="2377440"/>
          </a:xfrm>
          <a:prstGeom prst="roundRect">
            <a:avLst>
              <a:gd name="adj" fmla="val 4615"/>
            </a:avLst>
          </a:prstGeom>
          <a:solidFill>
            <a:schemeClr val="bg2"/>
          </a:solidFill>
          <a:ln/>
        </p:spPr>
      </p:sp>
      <p:sp>
        <p:nvSpPr>
          <p:cNvPr id="8" name="Text 5"/>
          <p:cNvSpPr txBox="1"/>
          <p:nvPr/>
        </p:nvSpPr>
        <p:spPr>
          <a:xfrm>
            <a:off x="8138160" y="4023360"/>
            <a:ext cx="3291840" cy="365760"/>
          </a:xfrm>
          <a:prstGeom prst="rect">
            <a:avLst/>
          </a:prstGeom>
          <a:noFill/>
          <a:ln/>
        </p:spPr>
        <p:txBody>
          <a:bodyPr wrap="square" lIns="0" tIns="0" rIns="0" bIns="0" rtlCol="0" anchor="t"/>
          <a:lstStyle/>
          <a:p>
            <a:pPr indent="0" marL="0">
              <a:buNone/>
            </a:pPr>
            <a:r>
              <a:rPr lang="en-US" sz="1600" b="1" dirty="0">
                <a:solidFill>
                  <a:schemeClr val="accent3"/>
                </a:solidFill>
              </a:rPr>
              <a:t>Parked on purpose</a:t>
            </a:r>
            <a:endParaRPr lang="en-US" sz="1600" dirty="0"/>
          </a:p>
        </p:txBody>
      </p:sp>
      <p:sp>
        <p:nvSpPr>
          <p:cNvPr id="9" name="Text 6"/>
          <p:cNvSpPr txBox="1"/>
          <p:nvPr/>
        </p:nvSpPr>
        <p:spPr>
          <a:xfrm>
            <a:off x="8138160" y="4434840"/>
            <a:ext cx="3291840" cy="1691640"/>
          </a:xfrm>
          <a:prstGeom prst="rect">
            <a:avLst/>
          </a:prstGeom>
          <a:noFill/>
          <a:ln/>
        </p:spPr>
        <p:txBody>
          <a:bodyPr wrap="square" lIns="0" tIns="0" rIns="0" bIns="0" rtlCol="0" anchor="t"/>
          <a:lstStyle/>
          <a:p>
            <a:pPr indent="0" marL="0">
              <a:buNone/>
            </a:pPr>
            <a:r>
              <a:rPr lang="en-US" sz="1400" dirty="0">
                <a:solidFill>
                  <a:schemeClr val="tx1"/>
                </a:solidFill>
              </a:rPr>
              <a:t>Auto-send, auto-written SOWs and pricing, auto-answered security questionnaires, lead scoring and web enrichment: too costly to get wrong, or no data to do it well.</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Four features, one rule: propose, never act alone</a:t>
            </a:r>
            <a:endParaRPr lang="en-US" sz="3000" dirty="0"/>
          </a:p>
        </p:txBody>
      </p:sp>
      <p:sp>
        <p:nvSpPr>
          <p:cNvPr id="3" name="Shape 1"/>
          <p:cNvSpPr/>
          <p:nvPr/>
        </p:nvSpPr>
        <p:spPr>
          <a:xfrm>
            <a:off x="548640" y="1463040"/>
            <a:ext cx="2606040" cy="3246120"/>
          </a:xfrm>
          <a:prstGeom prst="roundRect">
            <a:avLst>
              <a:gd name="adj" fmla="val 4211"/>
            </a:avLst>
          </a:prstGeom>
          <a:solidFill>
            <a:schemeClr val="bg2"/>
          </a:solidFill>
          <a:ln/>
        </p:spPr>
      </p:sp>
      <p:sp>
        <p:nvSpPr>
          <p:cNvPr id="4" name="Shape 2"/>
          <p:cNvSpPr/>
          <p:nvPr/>
        </p:nvSpPr>
        <p:spPr>
          <a:xfrm>
            <a:off x="777240" y="1691640"/>
            <a:ext cx="548640" cy="548640"/>
          </a:xfrm>
          <a:prstGeom prst="ellipse">
            <a:avLst/>
          </a:prstGeom>
          <a:solidFill>
            <a:schemeClr val="accent1"/>
          </a:solidFill>
          <a:ln/>
        </p:spPr>
      </p:sp>
      <p:sp>
        <p:nvSpPr>
          <p:cNvPr id="5" name="Text 3"/>
          <p:cNvSpPr txBox="1"/>
          <p:nvPr/>
        </p:nvSpPr>
        <p:spPr>
          <a:xfrm>
            <a:off x="777240" y="16916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F1</a:t>
            </a:r>
            <a:endParaRPr lang="en-US" sz="1600" dirty="0"/>
          </a:p>
        </p:txBody>
      </p:sp>
      <p:sp>
        <p:nvSpPr>
          <p:cNvPr id="6" name="Text 4"/>
          <p:cNvSpPr txBox="1"/>
          <p:nvPr/>
        </p:nvSpPr>
        <p:spPr>
          <a:xfrm>
            <a:off x="777240" y="2331720"/>
            <a:ext cx="2148840" cy="411480"/>
          </a:xfrm>
          <a:prstGeom prst="rect">
            <a:avLst/>
          </a:prstGeom>
          <a:noFill/>
          <a:ln/>
        </p:spPr>
        <p:txBody>
          <a:bodyPr wrap="square" lIns="0" tIns="0" rIns="0" bIns="0" rtlCol="0" anchor="t"/>
          <a:lstStyle/>
          <a:p>
            <a:pPr indent="0" marL="0">
              <a:buNone/>
            </a:pPr>
            <a:r>
              <a:rPr lang="en-US" sz="1800" b="1" dirty="0">
                <a:solidFill>
                  <a:schemeClr val="tx2"/>
                </a:solidFill>
              </a:rPr>
              <a:t>Capture &amp; Link</a:t>
            </a:r>
            <a:endParaRPr lang="en-US" sz="1800" dirty="0"/>
          </a:p>
        </p:txBody>
      </p:sp>
      <p:sp>
        <p:nvSpPr>
          <p:cNvPr id="7" name="Text 5"/>
          <p:cNvSpPr txBox="1"/>
          <p:nvPr/>
        </p:nvSpPr>
        <p:spPr>
          <a:xfrm>
            <a:off x="777240" y="2788920"/>
            <a:ext cx="2148840" cy="1325880"/>
          </a:xfrm>
          <a:prstGeom prst="rect">
            <a:avLst/>
          </a:prstGeom>
          <a:noFill/>
          <a:ln/>
        </p:spPr>
        <p:txBody>
          <a:bodyPr wrap="square" lIns="0" tIns="0" rIns="0" bIns="0" rtlCol="0" anchor="t"/>
          <a:lstStyle/>
          <a:p>
            <a:pPr indent="0" marL="0">
              <a:buNone/>
            </a:pPr>
            <a:r>
              <a:rPr lang="en-US" sz="1400" dirty="0">
                <a:solidFill>
                  <a:schemeClr val="tx1"/>
                </a:solidFill>
              </a:rPr>
              <a:t>Links every email and note to the right CRM account; flags duplicates; drafts leads for unseen companies.</a:t>
            </a:r>
            <a:endParaRPr lang="en-US" sz="1400" dirty="0"/>
          </a:p>
        </p:txBody>
      </p:sp>
      <p:sp>
        <p:nvSpPr>
          <p:cNvPr id="8" name="Text 6"/>
          <p:cNvSpPr txBox="1"/>
          <p:nvPr/>
        </p:nvSpPr>
        <p:spPr>
          <a:xfrm>
            <a:off x="777240" y="4160520"/>
            <a:ext cx="2148840" cy="411480"/>
          </a:xfrm>
          <a:prstGeom prst="rect">
            <a:avLst/>
          </a:prstGeom>
          <a:noFill/>
          <a:ln/>
        </p:spPr>
        <p:txBody>
          <a:bodyPr wrap="square" lIns="0" tIns="0" rIns="0" bIns="0" rtlCol="0" anchor="t"/>
          <a:lstStyle/>
          <a:p>
            <a:pPr indent="0" marL="0">
              <a:buNone/>
            </a:pPr>
            <a:r>
              <a:rPr lang="en-US" sz="1200" i="1" dirty="0">
                <a:solidFill>
                  <a:schemeClr val="accent4"/>
                </a:solidFill>
              </a:rPr>
              <a:t>Rules first, then GPT-OSS 20B</a:t>
            </a:r>
            <a:endParaRPr lang="en-US" sz="1200" dirty="0"/>
          </a:p>
        </p:txBody>
      </p:sp>
      <p:sp>
        <p:nvSpPr>
          <p:cNvPr id="9" name="Shape 7"/>
          <p:cNvSpPr/>
          <p:nvPr/>
        </p:nvSpPr>
        <p:spPr>
          <a:xfrm>
            <a:off x="3191256" y="2926080"/>
            <a:ext cx="137160" cy="274320"/>
          </a:xfrm>
          <a:prstGeom prst="chevron">
            <a:avLst/>
          </a:prstGeom>
          <a:solidFill>
            <a:schemeClr val="accent2"/>
          </a:solidFill>
          <a:ln/>
        </p:spPr>
      </p:sp>
      <p:sp>
        <p:nvSpPr>
          <p:cNvPr id="10" name="Shape 8"/>
          <p:cNvSpPr/>
          <p:nvPr/>
        </p:nvSpPr>
        <p:spPr>
          <a:xfrm>
            <a:off x="3364992" y="1463040"/>
            <a:ext cx="2606040" cy="3246120"/>
          </a:xfrm>
          <a:prstGeom prst="roundRect">
            <a:avLst>
              <a:gd name="adj" fmla="val 4211"/>
            </a:avLst>
          </a:prstGeom>
          <a:solidFill>
            <a:schemeClr val="bg2"/>
          </a:solidFill>
          <a:ln/>
        </p:spPr>
      </p:sp>
      <p:sp>
        <p:nvSpPr>
          <p:cNvPr id="11" name="Shape 9"/>
          <p:cNvSpPr/>
          <p:nvPr/>
        </p:nvSpPr>
        <p:spPr>
          <a:xfrm>
            <a:off x="3593592" y="1691640"/>
            <a:ext cx="548640" cy="548640"/>
          </a:xfrm>
          <a:prstGeom prst="ellipse">
            <a:avLst/>
          </a:prstGeom>
          <a:solidFill>
            <a:schemeClr val="accent1"/>
          </a:solidFill>
          <a:ln/>
        </p:spPr>
      </p:sp>
      <p:sp>
        <p:nvSpPr>
          <p:cNvPr id="12" name="Text 10"/>
          <p:cNvSpPr txBox="1"/>
          <p:nvPr/>
        </p:nvSpPr>
        <p:spPr>
          <a:xfrm>
            <a:off x="3593592" y="16916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F2</a:t>
            </a:r>
            <a:endParaRPr lang="en-US" sz="1600" dirty="0"/>
          </a:p>
        </p:txBody>
      </p:sp>
      <p:sp>
        <p:nvSpPr>
          <p:cNvPr id="13" name="Text 11"/>
          <p:cNvSpPr txBox="1"/>
          <p:nvPr/>
        </p:nvSpPr>
        <p:spPr>
          <a:xfrm>
            <a:off x="3593592" y="2331720"/>
            <a:ext cx="2148840" cy="411480"/>
          </a:xfrm>
          <a:prstGeom prst="rect">
            <a:avLst/>
          </a:prstGeom>
          <a:noFill/>
          <a:ln/>
        </p:spPr>
        <p:txBody>
          <a:bodyPr wrap="square" lIns="0" tIns="0" rIns="0" bIns="0" rtlCol="0" anchor="t"/>
          <a:lstStyle/>
          <a:p>
            <a:pPr indent="0" marL="0">
              <a:buNone/>
            </a:pPr>
            <a:r>
              <a:rPr lang="en-US" sz="1800" b="1" dirty="0">
                <a:solidFill>
                  <a:schemeClr val="tx2"/>
                </a:solidFill>
              </a:rPr>
              <a:t>Commitment Ledger</a:t>
            </a:r>
            <a:endParaRPr lang="en-US" sz="1800" dirty="0"/>
          </a:p>
        </p:txBody>
      </p:sp>
      <p:sp>
        <p:nvSpPr>
          <p:cNvPr id="14" name="Text 12"/>
          <p:cNvSpPr txBox="1"/>
          <p:nvPr/>
        </p:nvSpPr>
        <p:spPr>
          <a:xfrm>
            <a:off x="3593592" y="2788920"/>
            <a:ext cx="2148840" cy="1325880"/>
          </a:xfrm>
          <a:prstGeom prst="rect">
            <a:avLst/>
          </a:prstGeom>
          <a:noFill/>
          <a:ln/>
        </p:spPr>
        <p:txBody>
          <a:bodyPr wrap="square" lIns="0" tIns="0" rIns="0" bIns="0" rtlCol="0" anchor="t"/>
          <a:lstStyle/>
          <a:p>
            <a:pPr indent="0" marL="0">
              <a:buNone/>
            </a:pPr>
            <a:r>
              <a:rPr lang="en-US" sz="1400" dirty="0">
                <a:solidFill>
                  <a:schemeClr val="tx1"/>
                </a:solidFill>
              </a:rPr>
              <a:t>Pulls out asks, promises, deadlines, referrals and revisit signals, each with a verbatim quote.</a:t>
            </a:r>
            <a:endParaRPr lang="en-US" sz="1400" dirty="0"/>
          </a:p>
        </p:txBody>
      </p:sp>
      <p:sp>
        <p:nvSpPr>
          <p:cNvPr id="15" name="Text 13"/>
          <p:cNvSpPr txBox="1"/>
          <p:nvPr/>
        </p:nvSpPr>
        <p:spPr>
          <a:xfrm>
            <a:off x="3593592" y="4160520"/>
            <a:ext cx="2148840" cy="411480"/>
          </a:xfrm>
          <a:prstGeom prst="rect">
            <a:avLst/>
          </a:prstGeom>
          <a:noFill/>
          <a:ln/>
        </p:spPr>
        <p:txBody>
          <a:bodyPr wrap="square" lIns="0" tIns="0" rIns="0" bIns="0" rtlCol="0" anchor="t"/>
          <a:lstStyle/>
          <a:p>
            <a:pPr indent="0" marL="0">
              <a:buNone/>
            </a:pPr>
            <a:r>
              <a:rPr lang="en-US" sz="1200" i="1" dirty="0">
                <a:solidFill>
                  <a:schemeClr val="accent4"/>
                </a:solidFill>
              </a:rPr>
              <a:t>GPT-OSS 120B</a:t>
            </a:r>
            <a:endParaRPr lang="en-US" sz="1200" dirty="0"/>
          </a:p>
        </p:txBody>
      </p:sp>
      <p:sp>
        <p:nvSpPr>
          <p:cNvPr id="16" name="Shape 14"/>
          <p:cNvSpPr/>
          <p:nvPr/>
        </p:nvSpPr>
        <p:spPr>
          <a:xfrm>
            <a:off x="6007608" y="2926080"/>
            <a:ext cx="137160" cy="274320"/>
          </a:xfrm>
          <a:prstGeom prst="chevron">
            <a:avLst/>
          </a:prstGeom>
          <a:solidFill>
            <a:schemeClr val="accent2"/>
          </a:solidFill>
          <a:ln/>
        </p:spPr>
      </p:sp>
      <p:sp>
        <p:nvSpPr>
          <p:cNvPr id="17" name="Shape 15"/>
          <p:cNvSpPr/>
          <p:nvPr/>
        </p:nvSpPr>
        <p:spPr>
          <a:xfrm>
            <a:off x="6181344" y="1463040"/>
            <a:ext cx="2606040" cy="3246120"/>
          </a:xfrm>
          <a:prstGeom prst="roundRect">
            <a:avLst>
              <a:gd name="adj" fmla="val 4211"/>
            </a:avLst>
          </a:prstGeom>
          <a:solidFill>
            <a:schemeClr val="bg2"/>
          </a:solidFill>
          <a:ln/>
        </p:spPr>
      </p:sp>
      <p:sp>
        <p:nvSpPr>
          <p:cNvPr id="18" name="Shape 16"/>
          <p:cNvSpPr/>
          <p:nvPr/>
        </p:nvSpPr>
        <p:spPr>
          <a:xfrm>
            <a:off x="6409944" y="1691640"/>
            <a:ext cx="548640" cy="548640"/>
          </a:xfrm>
          <a:prstGeom prst="ellipse">
            <a:avLst/>
          </a:prstGeom>
          <a:solidFill>
            <a:schemeClr val="accent1"/>
          </a:solidFill>
          <a:ln/>
        </p:spPr>
      </p:sp>
      <p:sp>
        <p:nvSpPr>
          <p:cNvPr id="19" name="Text 17"/>
          <p:cNvSpPr txBox="1"/>
          <p:nvPr/>
        </p:nvSpPr>
        <p:spPr>
          <a:xfrm>
            <a:off x="6409944" y="16916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F3</a:t>
            </a:r>
            <a:endParaRPr lang="en-US" sz="1600" dirty="0"/>
          </a:p>
        </p:txBody>
      </p:sp>
      <p:sp>
        <p:nvSpPr>
          <p:cNvPr id="20" name="Text 18"/>
          <p:cNvSpPr txBox="1"/>
          <p:nvPr/>
        </p:nvSpPr>
        <p:spPr>
          <a:xfrm>
            <a:off x="6409944" y="2331720"/>
            <a:ext cx="2148840" cy="411480"/>
          </a:xfrm>
          <a:prstGeom prst="rect">
            <a:avLst/>
          </a:prstGeom>
          <a:noFill/>
          <a:ln/>
        </p:spPr>
        <p:txBody>
          <a:bodyPr wrap="square" lIns="0" tIns="0" rIns="0" bIns="0" rtlCol="0" anchor="t"/>
          <a:lstStyle/>
          <a:p>
            <a:pPr indent="0" marL="0">
              <a:buNone/>
            </a:pPr>
            <a:r>
              <a:rPr lang="en-US" sz="1800" b="1" dirty="0">
                <a:solidFill>
                  <a:schemeClr val="tx2"/>
                </a:solidFill>
              </a:rPr>
              <a:t>Daily Brief</a:t>
            </a:r>
            <a:endParaRPr lang="en-US" sz="1800" dirty="0"/>
          </a:p>
        </p:txBody>
      </p:sp>
      <p:sp>
        <p:nvSpPr>
          <p:cNvPr id="21" name="Text 19"/>
          <p:cNvSpPr txBox="1"/>
          <p:nvPr/>
        </p:nvSpPr>
        <p:spPr>
          <a:xfrm>
            <a:off x="6409944" y="2788920"/>
            <a:ext cx="2148840" cy="1325880"/>
          </a:xfrm>
          <a:prstGeom prst="rect">
            <a:avLst/>
          </a:prstGeom>
          <a:noFill/>
          <a:ln/>
        </p:spPr>
        <p:txBody>
          <a:bodyPr wrap="square" lIns="0" tIns="0" rIns="0" bIns="0" rtlCol="0" anchor="t"/>
          <a:lstStyle/>
          <a:p>
            <a:pPr indent="0" marL="0">
              <a:buNone/>
            </a:pPr>
            <a:r>
              <a:rPr lang="en-US" sz="1400" dirty="0">
                <a:solidFill>
                  <a:schemeClr val="tx1"/>
                </a:solidFill>
              </a:rPr>
              <a:t>Ranks what each seller owes today, capped at 10, plus a pipeline review pack.</a:t>
            </a:r>
            <a:endParaRPr lang="en-US" sz="1400" dirty="0"/>
          </a:p>
        </p:txBody>
      </p:sp>
      <p:sp>
        <p:nvSpPr>
          <p:cNvPr id="22" name="Text 20"/>
          <p:cNvSpPr txBox="1"/>
          <p:nvPr/>
        </p:nvSpPr>
        <p:spPr>
          <a:xfrm>
            <a:off x="6409944" y="4160520"/>
            <a:ext cx="2148840" cy="411480"/>
          </a:xfrm>
          <a:prstGeom prst="rect">
            <a:avLst/>
          </a:prstGeom>
          <a:noFill/>
          <a:ln/>
        </p:spPr>
        <p:txBody>
          <a:bodyPr wrap="square" lIns="0" tIns="0" rIns="0" bIns="0" rtlCol="0" anchor="t"/>
          <a:lstStyle/>
          <a:p>
            <a:pPr indent="0" marL="0">
              <a:buNone/>
            </a:pPr>
            <a:r>
              <a:rPr lang="en-US" sz="1200" i="1" dirty="0">
                <a:solidFill>
                  <a:schemeClr val="accent4"/>
                </a:solidFill>
              </a:rPr>
              <a:t>Ranking in code; GPT-OSS 120B one-liners</a:t>
            </a:r>
            <a:endParaRPr lang="en-US" sz="1200" dirty="0"/>
          </a:p>
        </p:txBody>
      </p:sp>
      <p:sp>
        <p:nvSpPr>
          <p:cNvPr id="23" name="Shape 21"/>
          <p:cNvSpPr/>
          <p:nvPr/>
        </p:nvSpPr>
        <p:spPr>
          <a:xfrm>
            <a:off x="8823960" y="2926080"/>
            <a:ext cx="137160" cy="274320"/>
          </a:xfrm>
          <a:prstGeom prst="chevron">
            <a:avLst/>
          </a:prstGeom>
          <a:solidFill>
            <a:schemeClr val="accent2"/>
          </a:solidFill>
          <a:ln/>
        </p:spPr>
      </p:sp>
      <p:sp>
        <p:nvSpPr>
          <p:cNvPr id="24" name="Shape 22"/>
          <p:cNvSpPr/>
          <p:nvPr/>
        </p:nvSpPr>
        <p:spPr>
          <a:xfrm>
            <a:off x="8997696" y="1463040"/>
            <a:ext cx="2606040" cy="3246120"/>
          </a:xfrm>
          <a:prstGeom prst="roundRect">
            <a:avLst>
              <a:gd name="adj" fmla="val 4211"/>
            </a:avLst>
          </a:prstGeom>
          <a:solidFill>
            <a:schemeClr val="bg2"/>
          </a:solidFill>
          <a:ln/>
        </p:spPr>
      </p:sp>
      <p:sp>
        <p:nvSpPr>
          <p:cNvPr id="25" name="Shape 23"/>
          <p:cNvSpPr/>
          <p:nvPr/>
        </p:nvSpPr>
        <p:spPr>
          <a:xfrm>
            <a:off x="9226296" y="1691640"/>
            <a:ext cx="548640" cy="548640"/>
          </a:xfrm>
          <a:prstGeom prst="ellipse">
            <a:avLst/>
          </a:prstGeom>
          <a:solidFill>
            <a:schemeClr val="accent1"/>
          </a:solidFill>
          <a:ln/>
        </p:spPr>
      </p:sp>
      <p:sp>
        <p:nvSpPr>
          <p:cNvPr id="26" name="Text 24"/>
          <p:cNvSpPr txBox="1"/>
          <p:nvPr/>
        </p:nvSpPr>
        <p:spPr>
          <a:xfrm>
            <a:off x="9226296" y="16916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F4</a:t>
            </a:r>
            <a:endParaRPr lang="en-US" sz="1600" dirty="0"/>
          </a:p>
        </p:txBody>
      </p:sp>
      <p:sp>
        <p:nvSpPr>
          <p:cNvPr id="27" name="Text 25"/>
          <p:cNvSpPr txBox="1"/>
          <p:nvPr/>
        </p:nvSpPr>
        <p:spPr>
          <a:xfrm>
            <a:off x="9226296" y="2331720"/>
            <a:ext cx="2148840" cy="411480"/>
          </a:xfrm>
          <a:prstGeom prst="rect">
            <a:avLst/>
          </a:prstGeom>
          <a:noFill/>
          <a:ln/>
        </p:spPr>
        <p:txBody>
          <a:bodyPr wrap="square" lIns="0" tIns="0" rIns="0" bIns="0" rtlCol="0" anchor="t"/>
          <a:lstStyle/>
          <a:p>
            <a:pPr indent="0" marL="0">
              <a:buNone/>
            </a:pPr>
            <a:r>
              <a:rPr lang="en-US" sz="1800" b="1" dirty="0">
                <a:solidFill>
                  <a:schemeClr val="tx2"/>
                </a:solidFill>
              </a:rPr>
              <a:t>Propose</a:t>
            </a:r>
            <a:endParaRPr lang="en-US" sz="1800" dirty="0"/>
          </a:p>
        </p:txBody>
      </p:sp>
      <p:sp>
        <p:nvSpPr>
          <p:cNvPr id="28" name="Text 26"/>
          <p:cNvSpPr txBox="1"/>
          <p:nvPr/>
        </p:nvSpPr>
        <p:spPr>
          <a:xfrm>
            <a:off x="9226296" y="2788920"/>
            <a:ext cx="2148840" cy="1325880"/>
          </a:xfrm>
          <a:prstGeom prst="rect">
            <a:avLst/>
          </a:prstGeom>
          <a:noFill/>
          <a:ln/>
        </p:spPr>
        <p:txBody>
          <a:bodyPr wrap="square" lIns="0" tIns="0" rIns="0" bIns="0" rtlCol="0" anchor="t"/>
          <a:lstStyle/>
          <a:p>
            <a:pPr indent="0" marL="0">
              <a:buNone/>
            </a:pPr>
            <a:r>
              <a:rPr lang="en-US" sz="1400" dirty="0">
                <a:solidFill>
                  <a:schemeClr val="tx1"/>
                </a:solidFill>
              </a:rPr>
              <a:t>Suggests CRM updates and reply drafts with blanks for unknown facts.</a:t>
            </a:r>
            <a:endParaRPr lang="en-US" sz="1400" dirty="0"/>
          </a:p>
        </p:txBody>
      </p:sp>
      <p:sp>
        <p:nvSpPr>
          <p:cNvPr id="29" name="Text 27"/>
          <p:cNvSpPr txBox="1"/>
          <p:nvPr/>
        </p:nvSpPr>
        <p:spPr>
          <a:xfrm>
            <a:off x="9226296" y="4160520"/>
            <a:ext cx="2148840" cy="411480"/>
          </a:xfrm>
          <a:prstGeom prst="rect">
            <a:avLst/>
          </a:prstGeom>
          <a:noFill/>
          <a:ln/>
        </p:spPr>
        <p:txBody>
          <a:bodyPr wrap="square" lIns="0" tIns="0" rIns="0" bIns="0" rtlCol="0" anchor="t"/>
          <a:lstStyle/>
          <a:p>
            <a:pPr indent="0" marL="0">
              <a:buNone/>
            </a:pPr>
            <a:r>
              <a:rPr lang="en-US" sz="1200" i="1" dirty="0">
                <a:solidFill>
                  <a:schemeClr val="accent4"/>
                </a:solidFill>
              </a:rPr>
              <a:t>GPT-OSS 120B</a:t>
            </a:r>
            <a:endParaRPr lang="en-US" sz="1200" dirty="0"/>
          </a:p>
        </p:txBody>
      </p:sp>
      <p:sp>
        <p:nvSpPr>
          <p:cNvPr id="30" name="Shape 28"/>
          <p:cNvSpPr/>
          <p:nvPr/>
        </p:nvSpPr>
        <p:spPr>
          <a:xfrm>
            <a:off x="548640" y="4983480"/>
            <a:ext cx="11064240" cy="1188720"/>
          </a:xfrm>
          <a:prstGeom prst="roundRect">
            <a:avLst>
              <a:gd name="adj" fmla="val 9231"/>
            </a:avLst>
          </a:prstGeom>
          <a:solidFill>
            <a:schemeClr val="tx2"/>
          </a:solidFill>
          <a:ln/>
        </p:spPr>
      </p:sp>
      <p:sp>
        <p:nvSpPr>
          <p:cNvPr id="31" name="Text 29"/>
          <p:cNvSpPr txBox="1"/>
          <p:nvPr/>
        </p:nvSpPr>
        <p:spPr>
          <a:xfrm>
            <a:off x="868680" y="5166360"/>
            <a:ext cx="10424160" cy="868680"/>
          </a:xfrm>
          <a:prstGeom prst="rect">
            <a:avLst/>
          </a:prstGeom>
          <a:noFill/>
          <a:ln/>
        </p:spPr>
        <p:txBody>
          <a:bodyPr wrap="square" lIns="0" tIns="0" rIns="0" bIns="0" rtlCol="0" anchor="ctr"/>
          <a:lstStyle/>
          <a:p>
            <a:pPr indent="0" marL="0">
              <a:buNone/>
            </a:pPr>
            <a:r>
              <a:rPr lang="en-US" sz="1700" b="1" dirty="0">
                <a:solidFill>
                  <a:schemeClr val="accent2"/>
                </a:solidFill>
              </a:rPr>
              <a:t>The seller decides. </a:t>
            </a:r>
            <a:pPr indent="0" marL="0">
              <a:buNone/>
            </a:pPr>
            <a:r>
              <a:rPr lang="en-US" sz="1700" dirty="0">
                <a:solidFill>
                  <a:schemeClr val="bg1"/>
                </a:solidFill>
              </a:rPr>
              <a:t>Approve, edit or reject in one tap. Approved CRM changes are written and logged with who and when. Sales and CRM Assistant has no permission to send anything to a client.</a:t>
            </a:r>
            <a:endParaRPr lang="en-US" sz="17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8:00 am: Bhavin sees what needs him, ranked and cited</a:t>
            </a:r>
            <a:endParaRPr lang="en-US" sz="3000" dirty="0"/>
          </a:p>
        </p:txBody>
      </p:sp>
      <p:pic>
        <p:nvPicPr>
          <p:cNvPr id="3" name="Image 0" descr="C:\Users\Admin\AppData\Local\Temp\claude\D--Codeakb-Sales-and-CRM-Assistant\4f85efed-3b49-4218-abe1-0219204d4668\scratchpad\deck\shots\brief.png">    </p:cNvPr>
          <p:cNvPicPr>
            <a:picLocks noChangeAspect="1"/>
          </p:cNvPicPr>
          <p:nvPr/>
        </p:nvPicPr>
        <p:blipFill>
          <a:blip r:embed="rId1"/>
          <a:stretch>
            <a:fillRect/>
          </a:stretch>
        </p:blipFill>
        <p:spPr>
          <a:xfrm>
            <a:off x="548640" y="1371600"/>
            <a:ext cx="6949440" cy="4826000"/>
          </a:xfrm>
          <a:prstGeom prst="rect">
            <a:avLst/>
          </a:prstGeom>
          <a:effectLst>
            <a:outerShdw sx="100000" sy="100000" kx="0" ky="0" algn="bl" rotWithShape="0" blurRad="76200" dist="25400" dir="5400000">
              <a:srgbClr val="000000">
                <a:alpha val="25000"/>
              </a:srgbClr>
            </a:outerShdw>
          </a:effectLst>
        </p:spPr>
      </p:pic>
      <p:sp>
        <p:nvSpPr>
          <p:cNvPr id="4" name="Shape 1"/>
          <p:cNvSpPr/>
          <p:nvPr/>
        </p:nvSpPr>
        <p:spPr>
          <a:xfrm>
            <a:off x="7863840" y="1417320"/>
            <a:ext cx="411480" cy="411480"/>
          </a:xfrm>
          <a:prstGeom prst="ellipse">
            <a:avLst/>
          </a:prstGeom>
          <a:solidFill>
            <a:schemeClr val="accent2"/>
          </a:solidFill>
          <a:ln/>
        </p:spPr>
      </p:sp>
      <p:sp>
        <p:nvSpPr>
          <p:cNvPr id="5" name="Text 2"/>
          <p:cNvSpPr txBox="1"/>
          <p:nvPr/>
        </p:nvSpPr>
        <p:spPr>
          <a:xfrm>
            <a:off x="7863840" y="141732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3"/>
          <p:cNvSpPr txBox="1"/>
          <p:nvPr/>
        </p:nvSpPr>
        <p:spPr>
          <a:xfrm>
            <a:off x="8412480" y="1417320"/>
            <a:ext cx="3200400" cy="365760"/>
          </a:xfrm>
          <a:prstGeom prst="rect">
            <a:avLst/>
          </a:prstGeom>
          <a:noFill/>
          <a:ln/>
        </p:spPr>
        <p:txBody>
          <a:bodyPr wrap="square" lIns="0" tIns="0" rIns="0" bIns="0" rtlCol="0" anchor="t"/>
          <a:lstStyle/>
          <a:p>
            <a:pPr indent="0" marL="0">
              <a:buNone/>
            </a:pPr>
            <a:r>
              <a:rPr lang="en-US" sz="1600" b="1" dirty="0">
                <a:solidFill>
                  <a:schemeClr val="tx2"/>
                </a:solidFill>
              </a:rPr>
              <a:t>Money at risk first</a:t>
            </a:r>
            <a:endParaRPr lang="en-US" sz="1600" dirty="0"/>
          </a:p>
        </p:txBody>
      </p:sp>
      <p:sp>
        <p:nvSpPr>
          <p:cNvPr id="7" name="Text 4"/>
          <p:cNvSpPr txBox="1"/>
          <p:nvPr/>
        </p:nvSpPr>
        <p:spPr>
          <a:xfrm>
            <a:off x="8412480" y="1801368"/>
            <a:ext cx="3200400" cy="731520"/>
          </a:xfrm>
          <a:prstGeom prst="rect">
            <a:avLst/>
          </a:prstGeom>
          <a:noFill/>
          <a:ln/>
        </p:spPr>
        <p:txBody>
          <a:bodyPr wrap="square" lIns="0" tIns="0" rIns="0" bIns="0" rtlCol="0" anchor="t"/>
          <a:lstStyle/>
          <a:p>
            <a:pPr indent="0" marL="0">
              <a:buNone/>
            </a:pPr>
            <a:r>
              <a:rPr lang="en-US" sz="1400" dirty="0">
                <a:solidFill>
                  <a:schemeClr val="tx1"/>
                </a:solidFill>
              </a:rPr>
              <a:t>FinEdge, NovaPharma, ShopSwift and Meridian, $275k between them, lead the list.</a:t>
            </a:r>
            <a:endParaRPr lang="en-US" sz="1400" dirty="0"/>
          </a:p>
        </p:txBody>
      </p:sp>
      <p:sp>
        <p:nvSpPr>
          <p:cNvPr id="8" name="Shape 5"/>
          <p:cNvSpPr/>
          <p:nvPr/>
        </p:nvSpPr>
        <p:spPr>
          <a:xfrm>
            <a:off x="7863840" y="2606040"/>
            <a:ext cx="411480" cy="411480"/>
          </a:xfrm>
          <a:prstGeom prst="ellipse">
            <a:avLst/>
          </a:prstGeom>
          <a:solidFill>
            <a:schemeClr val="accent2"/>
          </a:solidFill>
          <a:ln/>
        </p:spPr>
      </p:sp>
      <p:sp>
        <p:nvSpPr>
          <p:cNvPr id="9" name="Text 6"/>
          <p:cNvSpPr txBox="1"/>
          <p:nvPr/>
        </p:nvSpPr>
        <p:spPr>
          <a:xfrm>
            <a:off x="7863840" y="26060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7"/>
          <p:cNvSpPr txBox="1"/>
          <p:nvPr/>
        </p:nvSpPr>
        <p:spPr>
          <a:xfrm>
            <a:off x="8412480" y="2606040"/>
            <a:ext cx="3200400" cy="365760"/>
          </a:xfrm>
          <a:prstGeom prst="rect">
            <a:avLst/>
          </a:prstGeom>
          <a:noFill/>
          <a:ln/>
        </p:spPr>
        <p:txBody>
          <a:bodyPr wrap="square" lIns="0" tIns="0" rIns="0" bIns="0" rtlCol="0" anchor="t"/>
          <a:lstStyle/>
          <a:p>
            <a:pPr indent="0" marL="0">
              <a:buNone/>
            </a:pPr>
            <a:r>
              <a:rPr lang="en-US" sz="1600" b="1" dirty="0">
                <a:solidFill>
                  <a:schemeClr val="tx2"/>
                </a:solidFill>
              </a:rPr>
              <a:t>Every line cites its source</a:t>
            </a:r>
            <a:endParaRPr lang="en-US" sz="1600" dirty="0"/>
          </a:p>
        </p:txBody>
      </p:sp>
      <p:sp>
        <p:nvSpPr>
          <p:cNvPr id="11" name="Text 8"/>
          <p:cNvSpPr txBox="1"/>
          <p:nvPr/>
        </p:nvSpPr>
        <p:spPr>
          <a:xfrm>
            <a:off x="8412480" y="2990088"/>
            <a:ext cx="3200400" cy="731520"/>
          </a:xfrm>
          <a:prstGeom prst="rect">
            <a:avLst/>
          </a:prstGeom>
          <a:noFill/>
          <a:ln/>
        </p:spPr>
        <p:txBody>
          <a:bodyPr wrap="square" lIns="0" tIns="0" rIns="0" bIns="0" rtlCol="0" anchor="t"/>
          <a:lstStyle/>
          <a:p>
            <a:pPr indent="0" marL="0">
              <a:buNone/>
            </a:pPr>
            <a:r>
              <a:rPr lang="en-US" sz="1400" dirty="0">
                <a:solidFill>
                  <a:schemeClr val="tx1"/>
                </a:solidFill>
              </a:rPr>
              <a:t>The exact quote and the file it came from, one click away.</a:t>
            </a:r>
            <a:endParaRPr lang="en-US" sz="1400" dirty="0"/>
          </a:p>
        </p:txBody>
      </p:sp>
      <p:sp>
        <p:nvSpPr>
          <p:cNvPr id="12" name="Shape 9"/>
          <p:cNvSpPr/>
          <p:nvPr/>
        </p:nvSpPr>
        <p:spPr>
          <a:xfrm>
            <a:off x="7863840" y="3794760"/>
            <a:ext cx="411480" cy="411480"/>
          </a:xfrm>
          <a:prstGeom prst="ellipse">
            <a:avLst/>
          </a:prstGeom>
          <a:solidFill>
            <a:schemeClr val="accent2"/>
          </a:solidFill>
          <a:ln/>
        </p:spPr>
      </p:sp>
      <p:sp>
        <p:nvSpPr>
          <p:cNvPr id="13" name="Text 10"/>
          <p:cNvSpPr txBox="1"/>
          <p:nvPr/>
        </p:nvSpPr>
        <p:spPr>
          <a:xfrm>
            <a:off x="7863840" y="379476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1"/>
          <p:cNvSpPr txBox="1"/>
          <p:nvPr/>
        </p:nvSpPr>
        <p:spPr>
          <a:xfrm>
            <a:off x="8412480" y="3794760"/>
            <a:ext cx="3200400" cy="365760"/>
          </a:xfrm>
          <a:prstGeom prst="rect">
            <a:avLst/>
          </a:prstGeom>
          <a:noFill/>
          <a:ln/>
        </p:spPr>
        <p:txBody>
          <a:bodyPr wrap="square" lIns="0" tIns="0" rIns="0" bIns="0" rtlCol="0" anchor="t"/>
          <a:lstStyle/>
          <a:p>
            <a:pPr indent="0" marL="0">
              <a:buNone/>
            </a:pPr>
            <a:r>
              <a:rPr lang="en-US" sz="1600" b="1" dirty="0">
                <a:solidFill>
                  <a:schemeClr val="tx2"/>
                </a:solidFill>
              </a:rPr>
              <a:t>Short by design</a:t>
            </a:r>
            <a:endParaRPr lang="en-US" sz="1600" dirty="0"/>
          </a:p>
        </p:txBody>
      </p:sp>
      <p:sp>
        <p:nvSpPr>
          <p:cNvPr id="15" name="Text 12"/>
          <p:cNvSpPr txBox="1"/>
          <p:nvPr/>
        </p:nvSpPr>
        <p:spPr>
          <a:xfrm>
            <a:off x="8412480" y="4178808"/>
            <a:ext cx="3200400" cy="731520"/>
          </a:xfrm>
          <a:prstGeom prst="rect">
            <a:avLst/>
          </a:prstGeom>
          <a:noFill/>
          <a:ln/>
        </p:spPr>
        <p:txBody>
          <a:bodyPr wrap="square" lIns="0" tIns="0" rIns="0" bIns="0" rtlCol="0" anchor="t"/>
          <a:lstStyle/>
          <a:p>
            <a:pPr indent="0" marL="0">
              <a:buNone/>
            </a:pPr>
            <a:r>
              <a:rPr lang="en-US" sz="1400" dirty="0">
                <a:solidFill>
                  <a:schemeClr val="tx1"/>
                </a:solidFill>
              </a:rPr>
              <a:t>Capped at 10 items, with done, snooze and dismiss.</a:t>
            </a:r>
            <a:endParaRPr lang="en-US" sz="1400" dirty="0"/>
          </a:p>
        </p:txBody>
      </p:sp>
      <p:sp>
        <p:nvSpPr>
          <p:cNvPr id="16" name="Shape 13"/>
          <p:cNvSpPr/>
          <p:nvPr/>
        </p:nvSpPr>
        <p:spPr>
          <a:xfrm>
            <a:off x="7863840" y="4983480"/>
            <a:ext cx="411480" cy="411480"/>
          </a:xfrm>
          <a:prstGeom prst="ellipse">
            <a:avLst/>
          </a:prstGeom>
          <a:solidFill>
            <a:schemeClr val="accent2"/>
          </a:solidFill>
          <a:ln/>
        </p:spPr>
      </p:sp>
      <p:sp>
        <p:nvSpPr>
          <p:cNvPr id="17" name="Text 14"/>
          <p:cNvSpPr txBox="1"/>
          <p:nvPr/>
        </p:nvSpPr>
        <p:spPr>
          <a:xfrm>
            <a:off x="7863840" y="49834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Text 15"/>
          <p:cNvSpPr txBox="1"/>
          <p:nvPr/>
        </p:nvSpPr>
        <p:spPr>
          <a:xfrm>
            <a:off x="8412480" y="4983480"/>
            <a:ext cx="3200400" cy="365760"/>
          </a:xfrm>
          <a:prstGeom prst="rect">
            <a:avLst/>
          </a:prstGeom>
          <a:noFill/>
          <a:ln/>
        </p:spPr>
        <p:txBody>
          <a:bodyPr wrap="square" lIns="0" tIns="0" rIns="0" bIns="0" rtlCol="0" anchor="t"/>
          <a:lstStyle/>
          <a:p>
            <a:pPr indent="0" marL="0">
              <a:buNone/>
            </a:pPr>
            <a:r>
              <a:rPr lang="en-US" sz="1600" b="1" dirty="0">
                <a:solidFill>
                  <a:schemeClr val="tx2"/>
                </a:solidFill>
              </a:rPr>
              <a:t>Reply draft in one tap</a:t>
            </a:r>
            <a:endParaRPr lang="en-US" sz="1600" dirty="0"/>
          </a:p>
        </p:txBody>
      </p:sp>
      <p:sp>
        <p:nvSpPr>
          <p:cNvPr id="19" name="Text 16"/>
          <p:cNvSpPr txBox="1"/>
          <p:nvPr/>
        </p:nvSpPr>
        <p:spPr>
          <a:xfrm>
            <a:off x="8412480" y="5367528"/>
            <a:ext cx="3200400" cy="731520"/>
          </a:xfrm>
          <a:prstGeom prst="rect">
            <a:avLst/>
          </a:prstGeom>
          <a:noFill/>
          <a:ln/>
        </p:spPr>
        <p:txBody>
          <a:bodyPr wrap="square" lIns="0" tIns="0" rIns="0" bIns="0" rtlCol="0" anchor="t"/>
          <a:lstStyle/>
          <a:p>
            <a:pPr indent="0" marL="0">
              <a:buNone/>
            </a:pPr>
            <a:r>
              <a:rPr lang="en-US" sz="1400" dirty="0">
                <a:solidFill>
                  <a:schemeClr val="tx1"/>
                </a:solidFill>
              </a:rPr>
              <a:t>Copy only. Sales and CRM Assistant never sends.</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Grounded in sources, gated by people</a:t>
            </a:r>
            <a:endParaRPr lang="en-US" sz="3000" dirty="0"/>
          </a:p>
        </p:txBody>
      </p:sp>
      <p:pic>
        <p:nvPicPr>
          <p:cNvPr id="3" name="Image 0" descr="C:\Users\Admin\AppData\Local\Temp\claude\D--Codeakb-Sales-and-CRM-Assistant\4f85efed-3b49-4218-abe1-0219204d4668\scratchpad\deck\shots\source_crop.png">    </p:cNvPr>
          <p:cNvPicPr>
            <a:picLocks noChangeAspect="1"/>
          </p:cNvPicPr>
          <p:nvPr/>
        </p:nvPicPr>
        <p:blipFill>
          <a:blip r:embed="rId1"/>
          <a:stretch>
            <a:fillRect/>
          </a:stretch>
        </p:blipFill>
        <p:spPr>
          <a:xfrm>
            <a:off x="548640" y="1828800"/>
            <a:ext cx="5394960" cy="3028749"/>
          </a:xfrm>
          <a:prstGeom prst="rect">
            <a:avLst/>
          </a:prstGeom>
          <a:effectLst>
            <a:outerShdw sx="100000" sy="100000" kx="0" ky="0" algn="bl" rotWithShape="0" blurRad="76200" dist="25400" dir="5400000">
              <a:srgbClr val="000000">
                <a:alpha val="25000"/>
              </a:srgbClr>
            </a:outerShdw>
          </a:effectLst>
        </p:spPr>
      </p:pic>
      <p:pic>
        <p:nvPicPr>
          <p:cNvPr id="4" name="Image 1" descr="C:\Users\Admin\AppData\Local\Temp\claude\D--Codeakb-Sales-and-CRM-Assistant\4f85efed-3b49-4218-abe1-0219204d4668\scratchpad\deck\shots\approvals_crop.png">    </p:cNvPr>
          <p:cNvPicPr>
            <a:picLocks noChangeAspect="1"/>
          </p:cNvPicPr>
          <p:nvPr/>
        </p:nvPicPr>
        <p:blipFill>
          <a:blip r:embed="rId2"/>
          <a:stretch>
            <a:fillRect/>
          </a:stretch>
        </p:blipFill>
        <p:spPr>
          <a:xfrm>
            <a:off x="6217920" y="1828800"/>
            <a:ext cx="5394960" cy="3028749"/>
          </a:xfrm>
          <a:prstGeom prst="rect">
            <a:avLst/>
          </a:prstGeom>
          <a:effectLst>
            <a:outerShdw sx="100000" sy="100000" kx="0" ky="0" algn="bl" rotWithShape="0" blurRad="76200" dist="25400" dir="5400000">
              <a:srgbClr val="000000">
                <a:alpha val="25000"/>
              </a:srgbClr>
            </a:outerShdw>
          </a:effectLst>
        </p:spPr>
      </p:pic>
      <p:sp>
        <p:nvSpPr>
          <p:cNvPr id="5" name="Text 1"/>
          <p:cNvSpPr txBox="1"/>
          <p:nvPr/>
        </p:nvSpPr>
        <p:spPr>
          <a:xfrm>
            <a:off x="548640" y="5086149"/>
            <a:ext cx="5394960" cy="822960"/>
          </a:xfrm>
          <a:prstGeom prst="rect">
            <a:avLst/>
          </a:prstGeom>
          <a:noFill/>
          <a:ln/>
        </p:spPr>
        <p:txBody>
          <a:bodyPr wrap="square" lIns="0" tIns="0" rIns="0" bIns="0" rtlCol="0" anchor="t"/>
          <a:lstStyle/>
          <a:p>
            <a:pPr indent="0" marL="0">
              <a:buNone/>
            </a:pPr>
            <a:r>
              <a:rPr lang="en-US" sz="1500" b="1" dirty="0">
                <a:solidFill>
                  <a:schemeClr val="accent1"/>
                </a:solidFill>
              </a:rPr>
              <a:t>Grounded. </a:t>
            </a:r>
            <a:pPr indent="0" marL="0">
              <a:buNone/>
            </a:pPr>
            <a:r>
              <a:rPr lang="en-US" sz="1500" dirty="0">
                <a:solidFill>
                  <a:schemeClr val="tx1"/>
                </a:solidFill>
              </a:rPr>
              <a:t>Quotes are highlighted in the original email. An item whose quote isn't in the source is dropped.</a:t>
            </a:r>
            <a:endParaRPr lang="en-US" sz="1500" dirty="0"/>
          </a:p>
        </p:txBody>
      </p:sp>
      <p:sp>
        <p:nvSpPr>
          <p:cNvPr id="6" name="Text 2"/>
          <p:cNvSpPr txBox="1"/>
          <p:nvPr/>
        </p:nvSpPr>
        <p:spPr>
          <a:xfrm>
            <a:off x="6217920" y="5086149"/>
            <a:ext cx="5394960" cy="822960"/>
          </a:xfrm>
          <a:prstGeom prst="rect">
            <a:avLst/>
          </a:prstGeom>
          <a:noFill/>
          <a:ln/>
        </p:spPr>
        <p:txBody>
          <a:bodyPr wrap="square" lIns="0" tIns="0" rIns="0" bIns="0" rtlCol="0" anchor="t"/>
          <a:lstStyle/>
          <a:p>
            <a:pPr indent="0" marL="0">
              <a:buNone/>
            </a:pPr>
            <a:r>
              <a:rPr lang="en-US" sz="1500" b="1" dirty="0">
                <a:solidFill>
                  <a:schemeClr val="accent1"/>
                </a:solidFill>
              </a:rPr>
              <a:t>Human in control. </a:t>
            </a:r>
            <a:pPr indent="0" marL="0">
              <a:buNone/>
            </a:pPr>
            <a:r>
              <a:rPr lang="en-US" sz="1500" dirty="0">
                <a:solidFill>
                  <a:schemeClr val="tx1"/>
                </a:solidFill>
              </a:rPr>
              <a:t>Duplicates (Meridian), unsure names and new leads go to a person with the evidence. Nothing merges or writes on its own.</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Rules where possible, models where needed</a:t>
            </a:r>
            <a:endParaRPr lang="en-US" sz="3000" dirty="0"/>
          </a:p>
        </p:txBody>
      </p:sp>
      <p:sp>
        <p:nvSpPr>
          <p:cNvPr id="3" name="Shape 1"/>
          <p:cNvSpPr/>
          <p:nvPr/>
        </p:nvSpPr>
        <p:spPr>
          <a:xfrm>
            <a:off x="548640" y="1417320"/>
            <a:ext cx="6583680" cy="658368"/>
          </a:xfrm>
          <a:prstGeom prst="roundRect">
            <a:avLst>
              <a:gd name="adj" fmla="val 16667"/>
            </a:avLst>
          </a:prstGeom>
          <a:solidFill>
            <a:schemeClr val="bg2"/>
          </a:solidFill>
          <a:ln/>
        </p:spPr>
      </p:sp>
      <p:sp>
        <p:nvSpPr>
          <p:cNvPr id="4" name="Text 2"/>
          <p:cNvSpPr txBox="1"/>
          <p:nvPr/>
        </p:nvSpPr>
        <p:spPr>
          <a:xfrm>
            <a:off x="777240" y="1527048"/>
            <a:ext cx="1463040" cy="457200"/>
          </a:xfrm>
          <a:prstGeom prst="rect">
            <a:avLst/>
          </a:prstGeom>
          <a:noFill/>
          <a:ln/>
        </p:spPr>
        <p:txBody>
          <a:bodyPr wrap="square" lIns="0" tIns="0" rIns="0" bIns="0" rtlCol="0" anchor="ctr"/>
          <a:lstStyle/>
          <a:p>
            <a:pPr indent="0" marL="0">
              <a:buNone/>
            </a:pPr>
            <a:r>
              <a:rPr lang="en-US" sz="1600" b="1" dirty="0">
                <a:solidFill>
                  <a:schemeClr val="tx2"/>
                </a:solidFill>
              </a:rPr>
              <a:t>Pre-process</a:t>
            </a:r>
            <a:endParaRPr lang="en-US" sz="1600" dirty="0"/>
          </a:p>
        </p:txBody>
      </p:sp>
      <p:sp>
        <p:nvSpPr>
          <p:cNvPr id="5" name="Text 3"/>
          <p:cNvSpPr txBox="1"/>
          <p:nvPr/>
        </p:nvSpPr>
        <p:spPr>
          <a:xfrm>
            <a:off x="2240280" y="1527048"/>
            <a:ext cx="3291840" cy="457200"/>
          </a:xfrm>
          <a:prstGeom prst="rect">
            <a:avLst/>
          </a:prstGeom>
          <a:noFill/>
          <a:ln/>
        </p:spPr>
        <p:txBody>
          <a:bodyPr wrap="square" lIns="0" tIns="0" rIns="0" bIns="0" rtlCol="0" anchor="ctr"/>
          <a:lstStyle/>
          <a:p>
            <a:pPr indent="0" marL="0">
              <a:buNone/>
            </a:pPr>
            <a:r>
              <a:rPr lang="en-US" sz="1400" dirty="0">
                <a:solidFill>
                  <a:schemeClr val="tx1"/>
                </a:solidFill>
              </a:rPr>
              <a:t>Strip signatures and editorial notes</a:t>
            </a:r>
            <a:endParaRPr lang="en-US" sz="1400" dirty="0"/>
          </a:p>
        </p:txBody>
      </p:sp>
      <p:sp>
        <p:nvSpPr>
          <p:cNvPr id="6" name="Shape 4"/>
          <p:cNvSpPr/>
          <p:nvPr/>
        </p:nvSpPr>
        <p:spPr>
          <a:xfrm>
            <a:off x="5532120" y="1572768"/>
            <a:ext cx="1417320" cy="347472"/>
          </a:xfrm>
          <a:prstGeom prst="roundRect">
            <a:avLst>
              <a:gd name="adj" fmla="val 50000"/>
            </a:avLst>
          </a:prstGeom>
          <a:solidFill>
            <a:schemeClr val="bg1"/>
          </a:solidFill>
          <a:ln w="12700">
            <a:solidFill>
              <a:schemeClr val="accent1"/>
            </a:solidFill>
            <a:prstDash val="solid"/>
          </a:ln>
        </p:spPr>
      </p:sp>
      <p:sp>
        <p:nvSpPr>
          <p:cNvPr id="7" name="Text 5"/>
          <p:cNvSpPr txBox="1"/>
          <p:nvPr/>
        </p:nvSpPr>
        <p:spPr>
          <a:xfrm>
            <a:off x="5532120" y="1572768"/>
            <a:ext cx="1417320" cy="347472"/>
          </a:xfrm>
          <a:prstGeom prst="rect">
            <a:avLst/>
          </a:prstGeom>
          <a:noFill/>
          <a:ln/>
        </p:spPr>
        <p:txBody>
          <a:bodyPr wrap="square" lIns="0" tIns="0" rIns="0" bIns="0" rtlCol="0" anchor="ctr"/>
          <a:lstStyle/>
          <a:p>
            <a:pPr algn="ctr" indent="0" marL="0">
              <a:buNone/>
            </a:pPr>
            <a:r>
              <a:rPr lang="en-US" sz="1100" b="1" dirty="0">
                <a:solidFill>
                  <a:schemeClr val="accent1"/>
                </a:solidFill>
              </a:rPr>
              <a:t>Code</a:t>
            </a:r>
            <a:endParaRPr lang="en-US" sz="1100" dirty="0"/>
          </a:p>
        </p:txBody>
      </p:sp>
      <p:sp>
        <p:nvSpPr>
          <p:cNvPr id="8" name="Shape 6"/>
          <p:cNvSpPr/>
          <p:nvPr/>
        </p:nvSpPr>
        <p:spPr>
          <a:xfrm>
            <a:off x="548640" y="2185416"/>
            <a:ext cx="6583680" cy="658368"/>
          </a:xfrm>
          <a:prstGeom prst="roundRect">
            <a:avLst>
              <a:gd name="adj" fmla="val 16667"/>
            </a:avLst>
          </a:prstGeom>
          <a:solidFill>
            <a:schemeClr val="bg2"/>
          </a:solidFill>
          <a:ln/>
        </p:spPr>
      </p:sp>
      <p:sp>
        <p:nvSpPr>
          <p:cNvPr id="9" name="Text 7"/>
          <p:cNvSpPr txBox="1"/>
          <p:nvPr/>
        </p:nvSpPr>
        <p:spPr>
          <a:xfrm>
            <a:off x="777240" y="2295144"/>
            <a:ext cx="1463040" cy="457200"/>
          </a:xfrm>
          <a:prstGeom prst="rect">
            <a:avLst/>
          </a:prstGeom>
          <a:noFill/>
          <a:ln/>
        </p:spPr>
        <p:txBody>
          <a:bodyPr wrap="square" lIns="0" tIns="0" rIns="0" bIns="0" rtlCol="0" anchor="ctr"/>
          <a:lstStyle/>
          <a:p>
            <a:pPr indent="0" marL="0">
              <a:buNone/>
            </a:pPr>
            <a:r>
              <a:rPr lang="en-US" sz="1600" b="1" dirty="0">
                <a:solidFill>
                  <a:schemeClr val="tx2"/>
                </a:solidFill>
              </a:rPr>
              <a:t>Link</a:t>
            </a:r>
            <a:endParaRPr lang="en-US" sz="1600" dirty="0"/>
          </a:p>
        </p:txBody>
      </p:sp>
      <p:sp>
        <p:nvSpPr>
          <p:cNvPr id="10" name="Text 8"/>
          <p:cNvSpPr txBox="1"/>
          <p:nvPr/>
        </p:nvSpPr>
        <p:spPr>
          <a:xfrm>
            <a:off x="2240280" y="2295144"/>
            <a:ext cx="3291840" cy="457200"/>
          </a:xfrm>
          <a:prstGeom prst="rect">
            <a:avLst/>
          </a:prstGeom>
          <a:noFill/>
          <a:ln/>
        </p:spPr>
        <p:txBody>
          <a:bodyPr wrap="square" lIns="0" tIns="0" rIns="0" bIns="0" rtlCol="0" anchor="ctr"/>
          <a:lstStyle/>
          <a:p>
            <a:pPr indent="0" marL="0">
              <a:buNone/>
            </a:pPr>
            <a:r>
              <a:rPr lang="en-US" sz="1400" dirty="0">
                <a:solidFill>
                  <a:schemeClr val="tx1"/>
                </a:solidFill>
              </a:rPr>
              <a:t>Email, domain, lead_id, company</a:t>
            </a:r>
            <a:endParaRPr lang="en-US" sz="1400" dirty="0"/>
          </a:p>
        </p:txBody>
      </p:sp>
      <p:sp>
        <p:nvSpPr>
          <p:cNvPr id="11" name="Shape 9"/>
          <p:cNvSpPr/>
          <p:nvPr/>
        </p:nvSpPr>
        <p:spPr>
          <a:xfrm>
            <a:off x="5532120" y="2340864"/>
            <a:ext cx="1417320" cy="347472"/>
          </a:xfrm>
          <a:prstGeom prst="roundRect">
            <a:avLst>
              <a:gd name="adj" fmla="val 50000"/>
            </a:avLst>
          </a:prstGeom>
          <a:solidFill>
            <a:schemeClr val="accent1"/>
          </a:solidFill>
          <a:ln w="12700">
            <a:solidFill>
              <a:schemeClr val="accent1"/>
            </a:solidFill>
            <a:prstDash val="solid"/>
          </a:ln>
        </p:spPr>
      </p:sp>
      <p:sp>
        <p:nvSpPr>
          <p:cNvPr id="12" name="Text 10"/>
          <p:cNvSpPr txBox="1"/>
          <p:nvPr/>
        </p:nvSpPr>
        <p:spPr>
          <a:xfrm>
            <a:off x="5532120" y="2340864"/>
            <a:ext cx="1417320" cy="347472"/>
          </a:xfrm>
          <a:prstGeom prst="rect">
            <a:avLst/>
          </a:prstGeom>
          <a:noFill/>
          <a:ln/>
        </p:spPr>
        <p:txBody>
          <a:bodyPr wrap="square" lIns="0" tIns="0" rIns="0" bIns="0" rtlCol="0" anchor="ctr"/>
          <a:lstStyle/>
          <a:p>
            <a:pPr algn="ctr" indent="0" marL="0">
              <a:buNone/>
            </a:pPr>
            <a:r>
              <a:rPr lang="en-US" sz="1100" b="1" dirty="0">
                <a:solidFill>
                  <a:schemeClr val="bg1"/>
                </a:solidFill>
              </a:rPr>
              <a:t>Code + 20B</a:t>
            </a:r>
            <a:endParaRPr lang="en-US" sz="1100" dirty="0"/>
          </a:p>
        </p:txBody>
      </p:sp>
      <p:sp>
        <p:nvSpPr>
          <p:cNvPr id="13" name="Shape 11"/>
          <p:cNvSpPr/>
          <p:nvPr/>
        </p:nvSpPr>
        <p:spPr>
          <a:xfrm>
            <a:off x="548640" y="2953512"/>
            <a:ext cx="6583680" cy="658368"/>
          </a:xfrm>
          <a:prstGeom prst="roundRect">
            <a:avLst>
              <a:gd name="adj" fmla="val 16667"/>
            </a:avLst>
          </a:prstGeom>
          <a:solidFill>
            <a:schemeClr val="bg2"/>
          </a:solidFill>
          <a:ln/>
        </p:spPr>
      </p:sp>
      <p:sp>
        <p:nvSpPr>
          <p:cNvPr id="14" name="Text 12"/>
          <p:cNvSpPr txBox="1"/>
          <p:nvPr/>
        </p:nvSpPr>
        <p:spPr>
          <a:xfrm>
            <a:off x="777240" y="3063240"/>
            <a:ext cx="1463040" cy="457200"/>
          </a:xfrm>
          <a:prstGeom prst="rect">
            <a:avLst/>
          </a:prstGeom>
          <a:noFill/>
          <a:ln/>
        </p:spPr>
        <p:txBody>
          <a:bodyPr wrap="square" lIns="0" tIns="0" rIns="0" bIns="0" rtlCol="0" anchor="ctr"/>
          <a:lstStyle/>
          <a:p>
            <a:pPr indent="0" marL="0">
              <a:buNone/>
            </a:pPr>
            <a:r>
              <a:rPr lang="en-US" sz="1600" b="1" dirty="0">
                <a:solidFill>
                  <a:schemeClr val="tx2"/>
                </a:solidFill>
              </a:rPr>
              <a:t>Extract</a:t>
            </a:r>
            <a:endParaRPr lang="en-US" sz="1600" dirty="0"/>
          </a:p>
        </p:txBody>
      </p:sp>
      <p:sp>
        <p:nvSpPr>
          <p:cNvPr id="15" name="Text 13"/>
          <p:cNvSpPr txBox="1"/>
          <p:nvPr/>
        </p:nvSpPr>
        <p:spPr>
          <a:xfrm>
            <a:off x="2240280" y="3063240"/>
            <a:ext cx="3291840" cy="457200"/>
          </a:xfrm>
          <a:prstGeom prst="rect">
            <a:avLst/>
          </a:prstGeom>
          <a:noFill/>
          <a:ln/>
        </p:spPr>
        <p:txBody>
          <a:bodyPr wrap="square" lIns="0" tIns="0" rIns="0" bIns="0" rtlCol="0" anchor="ctr"/>
          <a:lstStyle/>
          <a:p>
            <a:pPr indent="0" marL="0">
              <a:buNone/>
            </a:pPr>
            <a:r>
              <a:rPr lang="en-US" sz="1400" dirty="0">
                <a:solidFill>
                  <a:schemeClr val="tx1"/>
                </a:solidFill>
              </a:rPr>
              <a:t>Fixed schema, verbatim quotes</a:t>
            </a:r>
            <a:endParaRPr lang="en-US" sz="1400" dirty="0"/>
          </a:p>
        </p:txBody>
      </p:sp>
      <p:sp>
        <p:nvSpPr>
          <p:cNvPr id="16" name="Shape 14"/>
          <p:cNvSpPr/>
          <p:nvPr/>
        </p:nvSpPr>
        <p:spPr>
          <a:xfrm>
            <a:off x="5532120" y="3108960"/>
            <a:ext cx="1417320" cy="347472"/>
          </a:xfrm>
          <a:prstGeom prst="roundRect">
            <a:avLst>
              <a:gd name="adj" fmla="val 50000"/>
            </a:avLst>
          </a:prstGeom>
          <a:solidFill>
            <a:schemeClr val="accent1"/>
          </a:solidFill>
          <a:ln w="12700">
            <a:solidFill>
              <a:schemeClr val="accent1"/>
            </a:solidFill>
            <a:prstDash val="solid"/>
          </a:ln>
        </p:spPr>
      </p:sp>
      <p:sp>
        <p:nvSpPr>
          <p:cNvPr id="17" name="Text 15"/>
          <p:cNvSpPr txBox="1"/>
          <p:nvPr/>
        </p:nvSpPr>
        <p:spPr>
          <a:xfrm>
            <a:off x="5532120" y="3108960"/>
            <a:ext cx="1417320" cy="347472"/>
          </a:xfrm>
          <a:prstGeom prst="rect">
            <a:avLst/>
          </a:prstGeom>
          <a:noFill/>
          <a:ln/>
        </p:spPr>
        <p:txBody>
          <a:bodyPr wrap="square" lIns="0" tIns="0" rIns="0" bIns="0" rtlCol="0" anchor="ctr"/>
          <a:lstStyle/>
          <a:p>
            <a:pPr algn="ctr" indent="0" marL="0">
              <a:buNone/>
            </a:pPr>
            <a:r>
              <a:rPr lang="en-US" sz="1100" b="1" dirty="0">
                <a:solidFill>
                  <a:schemeClr val="bg1"/>
                </a:solidFill>
              </a:rPr>
              <a:t>GPT-OSS 120B</a:t>
            </a:r>
            <a:endParaRPr lang="en-US" sz="1100" dirty="0"/>
          </a:p>
        </p:txBody>
      </p:sp>
      <p:sp>
        <p:nvSpPr>
          <p:cNvPr id="18" name="Shape 16"/>
          <p:cNvSpPr/>
          <p:nvPr/>
        </p:nvSpPr>
        <p:spPr>
          <a:xfrm>
            <a:off x="548640" y="3721608"/>
            <a:ext cx="6583680" cy="658368"/>
          </a:xfrm>
          <a:prstGeom prst="roundRect">
            <a:avLst>
              <a:gd name="adj" fmla="val 16667"/>
            </a:avLst>
          </a:prstGeom>
          <a:solidFill>
            <a:schemeClr val="bg2"/>
          </a:solidFill>
          <a:ln/>
        </p:spPr>
      </p:sp>
      <p:sp>
        <p:nvSpPr>
          <p:cNvPr id="19" name="Text 17"/>
          <p:cNvSpPr txBox="1"/>
          <p:nvPr/>
        </p:nvSpPr>
        <p:spPr>
          <a:xfrm>
            <a:off x="777240" y="3831336"/>
            <a:ext cx="1463040" cy="457200"/>
          </a:xfrm>
          <a:prstGeom prst="rect">
            <a:avLst/>
          </a:prstGeom>
          <a:noFill/>
          <a:ln/>
        </p:spPr>
        <p:txBody>
          <a:bodyPr wrap="square" lIns="0" tIns="0" rIns="0" bIns="0" rtlCol="0" anchor="ctr"/>
          <a:lstStyle/>
          <a:p>
            <a:pPr indent="0" marL="0">
              <a:buNone/>
            </a:pPr>
            <a:r>
              <a:rPr lang="en-US" sz="1600" b="1" dirty="0">
                <a:solidFill>
                  <a:schemeClr val="tx2"/>
                </a:solidFill>
              </a:rPr>
              <a:t>Validate</a:t>
            </a:r>
            <a:endParaRPr lang="en-US" sz="1600" dirty="0"/>
          </a:p>
        </p:txBody>
      </p:sp>
      <p:sp>
        <p:nvSpPr>
          <p:cNvPr id="20" name="Text 18"/>
          <p:cNvSpPr txBox="1"/>
          <p:nvPr/>
        </p:nvSpPr>
        <p:spPr>
          <a:xfrm>
            <a:off x="2240280" y="3831336"/>
            <a:ext cx="3291840" cy="457200"/>
          </a:xfrm>
          <a:prstGeom prst="rect">
            <a:avLst/>
          </a:prstGeom>
          <a:noFill/>
          <a:ln/>
        </p:spPr>
        <p:txBody>
          <a:bodyPr wrap="square" lIns="0" tIns="0" rIns="0" bIns="0" rtlCol="0" anchor="ctr"/>
          <a:lstStyle/>
          <a:p>
            <a:pPr indent="0" marL="0">
              <a:buNone/>
            </a:pPr>
            <a:r>
              <a:rPr lang="en-US" sz="1400" dirty="0">
                <a:solidFill>
                  <a:schemeClr val="tx1"/>
                </a:solidFill>
              </a:rPr>
              <a:t>Drop any item whose quote isn't found</a:t>
            </a:r>
            <a:endParaRPr lang="en-US" sz="1400" dirty="0"/>
          </a:p>
        </p:txBody>
      </p:sp>
      <p:sp>
        <p:nvSpPr>
          <p:cNvPr id="21" name="Shape 19"/>
          <p:cNvSpPr/>
          <p:nvPr/>
        </p:nvSpPr>
        <p:spPr>
          <a:xfrm>
            <a:off x="5532120" y="3877056"/>
            <a:ext cx="1417320" cy="347472"/>
          </a:xfrm>
          <a:prstGeom prst="roundRect">
            <a:avLst>
              <a:gd name="adj" fmla="val 50000"/>
            </a:avLst>
          </a:prstGeom>
          <a:solidFill>
            <a:schemeClr val="bg1"/>
          </a:solidFill>
          <a:ln w="12700">
            <a:solidFill>
              <a:schemeClr val="accent1"/>
            </a:solidFill>
            <a:prstDash val="solid"/>
          </a:ln>
        </p:spPr>
      </p:sp>
      <p:sp>
        <p:nvSpPr>
          <p:cNvPr id="22" name="Text 20"/>
          <p:cNvSpPr txBox="1"/>
          <p:nvPr/>
        </p:nvSpPr>
        <p:spPr>
          <a:xfrm>
            <a:off x="5532120" y="3877056"/>
            <a:ext cx="1417320" cy="347472"/>
          </a:xfrm>
          <a:prstGeom prst="rect">
            <a:avLst/>
          </a:prstGeom>
          <a:noFill/>
          <a:ln/>
        </p:spPr>
        <p:txBody>
          <a:bodyPr wrap="square" lIns="0" tIns="0" rIns="0" bIns="0" rtlCol="0" anchor="ctr"/>
          <a:lstStyle/>
          <a:p>
            <a:pPr algn="ctr" indent="0" marL="0">
              <a:buNone/>
            </a:pPr>
            <a:r>
              <a:rPr lang="en-US" sz="1100" b="1" dirty="0">
                <a:solidFill>
                  <a:schemeClr val="accent1"/>
                </a:solidFill>
              </a:rPr>
              <a:t>Code</a:t>
            </a:r>
            <a:endParaRPr lang="en-US" sz="1100" dirty="0"/>
          </a:p>
        </p:txBody>
      </p:sp>
      <p:sp>
        <p:nvSpPr>
          <p:cNvPr id="23" name="Shape 21"/>
          <p:cNvSpPr/>
          <p:nvPr/>
        </p:nvSpPr>
        <p:spPr>
          <a:xfrm>
            <a:off x="548640" y="4489704"/>
            <a:ext cx="6583680" cy="658368"/>
          </a:xfrm>
          <a:prstGeom prst="roundRect">
            <a:avLst>
              <a:gd name="adj" fmla="val 16667"/>
            </a:avLst>
          </a:prstGeom>
          <a:solidFill>
            <a:schemeClr val="bg2"/>
          </a:solidFill>
          <a:ln/>
        </p:spPr>
      </p:sp>
      <p:sp>
        <p:nvSpPr>
          <p:cNvPr id="24" name="Text 22"/>
          <p:cNvSpPr txBox="1"/>
          <p:nvPr/>
        </p:nvSpPr>
        <p:spPr>
          <a:xfrm>
            <a:off x="777240" y="4599432"/>
            <a:ext cx="1463040" cy="457200"/>
          </a:xfrm>
          <a:prstGeom prst="rect">
            <a:avLst/>
          </a:prstGeom>
          <a:noFill/>
          <a:ln/>
        </p:spPr>
        <p:txBody>
          <a:bodyPr wrap="square" lIns="0" tIns="0" rIns="0" bIns="0" rtlCol="0" anchor="ctr"/>
          <a:lstStyle/>
          <a:p>
            <a:pPr indent="0" marL="0">
              <a:buNone/>
            </a:pPr>
            <a:r>
              <a:rPr lang="en-US" sz="1600" b="1" dirty="0">
                <a:solidFill>
                  <a:schemeClr val="tx2"/>
                </a:solidFill>
              </a:rPr>
              <a:t>Rank</a:t>
            </a:r>
            <a:endParaRPr lang="en-US" sz="1600" dirty="0"/>
          </a:p>
        </p:txBody>
      </p:sp>
      <p:sp>
        <p:nvSpPr>
          <p:cNvPr id="25" name="Text 23"/>
          <p:cNvSpPr txBox="1"/>
          <p:nvPr/>
        </p:nvSpPr>
        <p:spPr>
          <a:xfrm>
            <a:off x="2240280" y="4599432"/>
            <a:ext cx="3291840" cy="457200"/>
          </a:xfrm>
          <a:prstGeom prst="rect">
            <a:avLst/>
          </a:prstGeom>
          <a:noFill/>
          <a:ln/>
        </p:spPr>
        <p:txBody>
          <a:bodyPr wrap="square" lIns="0" tIns="0" rIns="0" bIns="0" rtlCol="0" anchor="ctr"/>
          <a:lstStyle/>
          <a:p>
            <a:pPr indent="0" marL="0">
              <a:buNone/>
            </a:pPr>
            <a:r>
              <a:rPr lang="en-US" sz="1400" dirty="0">
                <a:solidFill>
                  <a:schemeClr val="tx1"/>
                </a:solidFill>
              </a:rPr>
              <a:t>Owner, due date, overdue, brief order</a:t>
            </a:r>
            <a:endParaRPr lang="en-US" sz="1400" dirty="0"/>
          </a:p>
        </p:txBody>
      </p:sp>
      <p:sp>
        <p:nvSpPr>
          <p:cNvPr id="26" name="Shape 24"/>
          <p:cNvSpPr/>
          <p:nvPr/>
        </p:nvSpPr>
        <p:spPr>
          <a:xfrm>
            <a:off x="5532120" y="4645152"/>
            <a:ext cx="1417320" cy="347472"/>
          </a:xfrm>
          <a:prstGeom prst="roundRect">
            <a:avLst>
              <a:gd name="adj" fmla="val 50000"/>
            </a:avLst>
          </a:prstGeom>
          <a:solidFill>
            <a:schemeClr val="bg1"/>
          </a:solidFill>
          <a:ln w="12700">
            <a:solidFill>
              <a:schemeClr val="accent1"/>
            </a:solidFill>
            <a:prstDash val="solid"/>
          </a:ln>
        </p:spPr>
      </p:sp>
      <p:sp>
        <p:nvSpPr>
          <p:cNvPr id="27" name="Text 25"/>
          <p:cNvSpPr txBox="1"/>
          <p:nvPr/>
        </p:nvSpPr>
        <p:spPr>
          <a:xfrm>
            <a:off x="5532120" y="4645152"/>
            <a:ext cx="1417320" cy="347472"/>
          </a:xfrm>
          <a:prstGeom prst="rect">
            <a:avLst/>
          </a:prstGeom>
          <a:noFill/>
          <a:ln/>
        </p:spPr>
        <p:txBody>
          <a:bodyPr wrap="square" lIns="0" tIns="0" rIns="0" bIns="0" rtlCol="0" anchor="ctr"/>
          <a:lstStyle/>
          <a:p>
            <a:pPr algn="ctr" indent="0" marL="0">
              <a:buNone/>
            </a:pPr>
            <a:r>
              <a:rPr lang="en-US" sz="1100" b="1" dirty="0">
                <a:solidFill>
                  <a:schemeClr val="accent1"/>
                </a:solidFill>
              </a:rPr>
              <a:t>Code</a:t>
            </a:r>
            <a:endParaRPr lang="en-US" sz="1100" dirty="0"/>
          </a:p>
        </p:txBody>
      </p:sp>
      <p:sp>
        <p:nvSpPr>
          <p:cNvPr id="28" name="Shape 26"/>
          <p:cNvSpPr/>
          <p:nvPr/>
        </p:nvSpPr>
        <p:spPr>
          <a:xfrm>
            <a:off x="548640" y="5257800"/>
            <a:ext cx="6583680" cy="658368"/>
          </a:xfrm>
          <a:prstGeom prst="roundRect">
            <a:avLst>
              <a:gd name="adj" fmla="val 16667"/>
            </a:avLst>
          </a:prstGeom>
          <a:solidFill>
            <a:schemeClr val="bg2"/>
          </a:solidFill>
          <a:ln/>
        </p:spPr>
      </p:sp>
      <p:sp>
        <p:nvSpPr>
          <p:cNvPr id="29" name="Text 27"/>
          <p:cNvSpPr txBox="1"/>
          <p:nvPr/>
        </p:nvSpPr>
        <p:spPr>
          <a:xfrm>
            <a:off x="777240" y="5367528"/>
            <a:ext cx="1463040" cy="457200"/>
          </a:xfrm>
          <a:prstGeom prst="rect">
            <a:avLst/>
          </a:prstGeom>
          <a:noFill/>
          <a:ln/>
        </p:spPr>
        <p:txBody>
          <a:bodyPr wrap="square" lIns="0" tIns="0" rIns="0" bIns="0" rtlCol="0" anchor="ctr"/>
          <a:lstStyle/>
          <a:p>
            <a:pPr indent="0" marL="0">
              <a:buNone/>
            </a:pPr>
            <a:r>
              <a:rPr lang="en-US" sz="1600" b="1" dirty="0">
                <a:solidFill>
                  <a:schemeClr val="tx2"/>
                </a:solidFill>
              </a:rPr>
              <a:t>Propose</a:t>
            </a:r>
            <a:endParaRPr lang="en-US" sz="1600" dirty="0"/>
          </a:p>
        </p:txBody>
      </p:sp>
      <p:sp>
        <p:nvSpPr>
          <p:cNvPr id="30" name="Text 28"/>
          <p:cNvSpPr txBox="1"/>
          <p:nvPr/>
        </p:nvSpPr>
        <p:spPr>
          <a:xfrm>
            <a:off x="2240280" y="5367528"/>
            <a:ext cx="3291840" cy="457200"/>
          </a:xfrm>
          <a:prstGeom prst="rect">
            <a:avLst/>
          </a:prstGeom>
          <a:noFill/>
          <a:ln/>
        </p:spPr>
        <p:txBody>
          <a:bodyPr wrap="square" lIns="0" tIns="0" rIns="0" bIns="0" rtlCol="0" anchor="ctr"/>
          <a:lstStyle/>
          <a:p>
            <a:pPr indent="0" marL="0">
              <a:buNone/>
            </a:pPr>
            <a:r>
              <a:rPr lang="en-US" sz="1400" dirty="0">
                <a:solidFill>
                  <a:schemeClr val="tx1"/>
                </a:solidFill>
              </a:rPr>
              <a:t>CRM updates and reply drafts</a:t>
            </a:r>
            <a:endParaRPr lang="en-US" sz="1400" dirty="0"/>
          </a:p>
        </p:txBody>
      </p:sp>
      <p:sp>
        <p:nvSpPr>
          <p:cNvPr id="31" name="Shape 29"/>
          <p:cNvSpPr/>
          <p:nvPr/>
        </p:nvSpPr>
        <p:spPr>
          <a:xfrm>
            <a:off x="5532120" y="5413248"/>
            <a:ext cx="1417320" cy="347472"/>
          </a:xfrm>
          <a:prstGeom prst="roundRect">
            <a:avLst>
              <a:gd name="adj" fmla="val 50000"/>
            </a:avLst>
          </a:prstGeom>
          <a:solidFill>
            <a:schemeClr val="accent1"/>
          </a:solidFill>
          <a:ln w="12700">
            <a:solidFill>
              <a:schemeClr val="accent1"/>
            </a:solidFill>
            <a:prstDash val="solid"/>
          </a:ln>
        </p:spPr>
      </p:sp>
      <p:sp>
        <p:nvSpPr>
          <p:cNvPr id="32" name="Text 30"/>
          <p:cNvSpPr txBox="1"/>
          <p:nvPr/>
        </p:nvSpPr>
        <p:spPr>
          <a:xfrm>
            <a:off x="5532120" y="5413248"/>
            <a:ext cx="1417320" cy="347472"/>
          </a:xfrm>
          <a:prstGeom prst="rect">
            <a:avLst/>
          </a:prstGeom>
          <a:noFill/>
          <a:ln/>
        </p:spPr>
        <p:txBody>
          <a:bodyPr wrap="square" lIns="0" tIns="0" rIns="0" bIns="0" rtlCol="0" anchor="ctr"/>
          <a:lstStyle/>
          <a:p>
            <a:pPr algn="ctr" indent="0" marL="0">
              <a:buNone/>
            </a:pPr>
            <a:r>
              <a:rPr lang="en-US" sz="1100" b="1" dirty="0">
                <a:solidFill>
                  <a:schemeClr val="bg1"/>
                </a:solidFill>
              </a:rPr>
              <a:t>GPT-OSS 120B</a:t>
            </a:r>
            <a:endParaRPr lang="en-US" sz="1100" dirty="0"/>
          </a:p>
        </p:txBody>
      </p:sp>
      <p:sp>
        <p:nvSpPr>
          <p:cNvPr id="33" name="Shape 31"/>
          <p:cNvSpPr/>
          <p:nvPr/>
        </p:nvSpPr>
        <p:spPr>
          <a:xfrm>
            <a:off x="7498080" y="1417320"/>
            <a:ext cx="4114800" cy="2194560"/>
          </a:xfrm>
          <a:prstGeom prst="roundRect">
            <a:avLst>
              <a:gd name="adj" fmla="val 5000"/>
            </a:avLst>
          </a:prstGeom>
          <a:solidFill>
            <a:schemeClr val="tx2"/>
          </a:solidFill>
          <a:ln/>
        </p:spPr>
      </p:sp>
      <p:sp>
        <p:nvSpPr>
          <p:cNvPr id="34" name="Text 32"/>
          <p:cNvSpPr txBox="1"/>
          <p:nvPr/>
        </p:nvSpPr>
        <p:spPr>
          <a:xfrm>
            <a:off x="7772400" y="1600200"/>
            <a:ext cx="3566160" cy="50292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$12 per seller per month</a:t>
            </a:r>
            <a:endParaRPr lang="en-US" sz="2200" dirty="0"/>
          </a:p>
        </p:txBody>
      </p:sp>
      <p:sp>
        <p:nvSpPr>
          <p:cNvPr id="35" name="Text 33"/>
          <p:cNvSpPr txBox="1"/>
          <p:nvPr/>
        </p:nvSpPr>
        <p:spPr>
          <a:xfrm>
            <a:off x="7772400" y="2148840"/>
            <a:ext cx="3566160" cy="1371600"/>
          </a:xfrm>
          <a:prstGeom prst="rect">
            <a:avLst/>
          </a:prstGeom>
          <a:noFill/>
          <a:ln/>
        </p:spPr>
        <p:txBody>
          <a:bodyPr wrap="square" lIns="0" tIns="0" rIns="0" bIns="0" rtlCol="0" anchor="t"/>
          <a:lstStyle/>
          <a:p>
            <a:pPr indent="0" marL="0">
              <a:buNone/>
            </a:pPr>
            <a:r>
              <a:rPr lang="en-US" sz="1400" dirty="0">
                <a:solidFill>
                  <a:schemeClr val="bg1"/>
                </a:solidFill>
              </a:rPr>
              <a:t>About $47 a month for four sellers: under $2 of Groq inference, $45 for Vercel Pro and Supabase Pro. Doing the same capture by hand would take about $457 a month of coordinator time.</a:t>
            </a:r>
            <a:endParaRPr lang="en-US" sz="1400" dirty="0"/>
          </a:p>
        </p:txBody>
      </p:sp>
      <p:sp>
        <p:nvSpPr>
          <p:cNvPr id="36" name="Shape 34"/>
          <p:cNvSpPr/>
          <p:nvPr/>
        </p:nvSpPr>
        <p:spPr>
          <a:xfrm>
            <a:off x="7498080" y="3794760"/>
            <a:ext cx="4114800" cy="2377440"/>
          </a:xfrm>
          <a:prstGeom prst="roundRect">
            <a:avLst>
              <a:gd name="adj" fmla="val 4615"/>
            </a:avLst>
          </a:prstGeom>
          <a:solidFill>
            <a:schemeClr val="bg2"/>
          </a:solidFill>
          <a:ln/>
        </p:spPr>
      </p:sp>
      <p:sp>
        <p:nvSpPr>
          <p:cNvPr id="37" name="Text 35"/>
          <p:cNvSpPr txBox="1"/>
          <p:nvPr/>
        </p:nvSpPr>
        <p:spPr>
          <a:xfrm>
            <a:off x="7772400" y="3977640"/>
            <a:ext cx="3566160" cy="365760"/>
          </a:xfrm>
          <a:prstGeom prst="rect">
            <a:avLst/>
          </a:prstGeom>
          <a:noFill/>
          <a:ln/>
        </p:spPr>
        <p:txBody>
          <a:bodyPr wrap="square" lIns="0" tIns="0" rIns="0" bIns="0" rtlCol="0" anchor="t"/>
          <a:lstStyle/>
          <a:p>
            <a:pPr indent="0" marL="0">
              <a:buNone/>
            </a:pPr>
            <a:r>
              <a:rPr lang="en-US" sz="1600" b="1" dirty="0">
                <a:solidFill>
                  <a:schemeClr val="tx2"/>
                </a:solidFill>
              </a:rPr>
              <a:t>Prototype stack</a:t>
            </a:r>
            <a:endParaRPr lang="en-US" sz="1600" dirty="0"/>
          </a:p>
        </p:txBody>
      </p:sp>
      <p:sp>
        <p:nvSpPr>
          <p:cNvPr id="38" name="Text 36"/>
          <p:cNvSpPr txBox="1"/>
          <p:nvPr/>
        </p:nvSpPr>
        <p:spPr>
          <a:xfrm>
            <a:off x="7772400" y="4389120"/>
            <a:ext cx="356616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Next.js on Vercel's free tier, no paid database</a:t>
            </a:r>
            <a:endParaRPr lang="en-US" sz="1400" dirty="0"/>
          </a:p>
          <a:p>
            <a:pPr marL="342900" indent="-342900">
              <a:spcAft>
                <a:spcPts val="600"/>
              </a:spcAft>
              <a:buSzPct val="100000"/>
              <a:buChar char="•"/>
            </a:pPr>
            <a:r>
              <a:rPr lang="en-US" sz="1400" dirty="0">
                <a:solidFill>
                  <a:schemeClr val="tx1"/>
                </a:solidFill>
              </a:rPr>
              <a:t>Precomputed, quote-checked outputs for the demo</a:t>
            </a:r>
            <a:endParaRPr lang="en-US" sz="1400" dirty="0"/>
          </a:p>
          <a:p>
            <a:pPr marL="342900" indent="-342900">
              <a:spcAft>
                <a:spcPts val="600"/>
              </a:spcAft>
              <a:buSzPct val="100000"/>
              <a:buChar char="•"/>
            </a:pPr>
            <a:r>
              <a:rPr lang="en-US" sz="1400" dirty="0">
                <a:solidFill>
                  <a:schemeClr val="tx1"/>
                </a:solidFill>
              </a:rPr>
              <a:t>Live models on Groq; Claude kept as a fallback</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North Star: Commitments Kept on Time, from 41% to 90%</a:t>
            </a:r>
            <a:endParaRPr lang="en-US" sz="3000" dirty="0"/>
          </a:p>
        </p:txBody>
      </p:sp>
      <p:graphicFrame>
        <p:nvGraphicFramePr>
          <p:cNvPr id="3" name="Chart 0" descr=""/>
          <p:cNvGraphicFramePr/>
          <p:nvPr/>
        </p:nvGraphicFramePr>
        <p:xfrm>
          <a:off x="548640" y="1371600"/>
          <a:ext cx="5852160" cy="4754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766560" y="1417320"/>
            <a:ext cx="4846320" cy="365760"/>
          </a:xfrm>
          <a:prstGeom prst="rect">
            <a:avLst/>
          </a:prstGeom>
          <a:noFill/>
          <a:ln/>
        </p:spPr>
        <p:txBody>
          <a:bodyPr wrap="square" lIns="0" tIns="0" rIns="0" bIns="0" rtlCol="0" anchor="t"/>
          <a:lstStyle/>
          <a:p>
            <a:pPr indent="0" marL="0">
              <a:buNone/>
            </a:pPr>
            <a:r>
              <a:rPr lang="en-US" sz="1600" b="1" dirty="0">
                <a:solidFill>
                  <a:schemeClr val="tx2"/>
                </a:solidFill>
              </a:rPr>
              <a:t>Supporting metrics: today and target</a:t>
            </a:r>
            <a:endParaRPr lang="en-US" sz="1600" dirty="0"/>
          </a:p>
        </p:txBody>
      </p:sp>
      <p:sp>
        <p:nvSpPr>
          <p:cNvPr id="5" name="Shape 2"/>
          <p:cNvSpPr/>
          <p:nvPr/>
        </p:nvSpPr>
        <p:spPr>
          <a:xfrm>
            <a:off x="6766560" y="1874520"/>
            <a:ext cx="4846320" cy="621792"/>
          </a:xfrm>
          <a:prstGeom prst="roundRect">
            <a:avLst>
              <a:gd name="adj" fmla="val 17647"/>
            </a:avLst>
          </a:prstGeom>
          <a:solidFill>
            <a:schemeClr val="bg2"/>
          </a:solidFill>
          <a:ln/>
        </p:spPr>
      </p:sp>
      <p:sp>
        <p:nvSpPr>
          <p:cNvPr id="6" name="Text 3"/>
          <p:cNvSpPr txBox="1"/>
          <p:nvPr/>
        </p:nvSpPr>
        <p:spPr>
          <a:xfrm>
            <a:off x="6949440" y="1947672"/>
            <a:ext cx="1920240" cy="475488"/>
          </a:xfrm>
          <a:prstGeom prst="rect">
            <a:avLst/>
          </a:prstGeom>
          <a:noFill/>
          <a:ln/>
        </p:spPr>
        <p:txBody>
          <a:bodyPr wrap="square" lIns="0" tIns="0" rIns="0" bIns="0" rtlCol="0" anchor="ctr"/>
          <a:lstStyle/>
          <a:p>
            <a:pPr indent="0" marL="0">
              <a:buNone/>
            </a:pPr>
            <a:r>
              <a:rPr lang="en-US" sz="1400" b="1" dirty="0">
                <a:solidFill>
                  <a:schemeClr val="tx1"/>
                </a:solidFill>
              </a:rPr>
              <a:t>Pipeline completeness</a:t>
            </a:r>
            <a:endParaRPr lang="en-US" sz="1400" dirty="0"/>
          </a:p>
        </p:txBody>
      </p:sp>
      <p:sp>
        <p:nvSpPr>
          <p:cNvPr id="7" name="Text 4"/>
          <p:cNvSpPr txBox="1"/>
          <p:nvPr/>
        </p:nvSpPr>
        <p:spPr>
          <a:xfrm>
            <a:off x="8869680" y="1947672"/>
            <a:ext cx="2651760" cy="475488"/>
          </a:xfrm>
          <a:prstGeom prst="rect">
            <a:avLst/>
          </a:prstGeom>
          <a:noFill/>
          <a:ln/>
        </p:spPr>
        <p:txBody>
          <a:bodyPr wrap="square" lIns="0" tIns="0" rIns="0" bIns="0" rtlCol="0" anchor="ctr"/>
          <a:lstStyle/>
          <a:p>
            <a:pPr indent="0" marL="0">
              <a:buNone/>
            </a:pPr>
            <a:r>
              <a:rPr lang="en-US" sz="1200" dirty="0">
                <a:solidFill>
                  <a:schemeClr val="accent3"/>
                </a:solidFill>
              </a:rPr>
              <a:t>0 of 31 open deals → </a:t>
            </a:r>
            <a:pPr indent="0" marL="0">
              <a:buNone/>
            </a:pPr>
            <a:r>
              <a:rPr lang="en-US" sz="1200" dirty="0">
                <a:solidFill>
                  <a:schemeClr val="accent1"/>
                </a:solidFill>
              </a:rPr>
              <a:t>100% with owner, next step, follow-up date</a:t>
            </a:r>
            <a:endParaRPr lang="en-US" sz="1200" dirty="0"/>
          </a:p>
        </p:txBody>
      </p:sp>
      <p:sp>
        <p:nvSpPr>
          <p:cNvPr id="8" name="Shape 5"/>
          <p:cNvSpPr/>
          <p:nvPr/>
        </p:nvSpPr>
        <p:spPr>
          <a:xfrm>
            <a:off x="6766560" y="2587752"/>
            <a:ext cx="4846320" cy="621792"/>
          </a:xfrm>
          <a:prstGeom prst="roundRect">
            <a:avLst>
              <a:gd name="adj" fmla="val 17647"/>
            </a:avLst>
          </a:prstGeom>
          <a:solidFill>
            <a:schemeClr val="bg2"/>
          </a:solidFill>
          <a:ln/>
        </p:spPr>
      </p:sp>
      <p:sp>
        <p:nvSpPr>
          <p:cNvPr id="9" name="Text 6"/>
          <p:cNvSpPr txBox="1"/>
          <p:nvPr/>
        </p:nvSpPr>
        <p:spPr>
          <a:xfrm>
            <a:off x="6949440" y="2660904"/>
            <a:ext cx="1920240" cy="475488"/>
          </a:xfrm>
          <a:prstGeom prst="rect">
            <a:avLst/>
          </a:prstGeom>
          <a:noFill/>
          <a:ln/>
        </p:spPr>
        <p:txBody>
          <a:bodyPr wrap="square" lIns="0" tIns="0" rIns="0" bIns="0" rtlCol="0" anchor="ctr"/>
          <a:lstStyle/>
          <a:p>
            <a:pPr indent="0" marL="0">
              <a:buNone/>
            </a:pPr>
            <a:r>
              <a:rPr lang="en-US" sz="1400" b="1" dirty="0">
                <a:solidFill>
                  <a:schemeClr val="tx1"/>
                </a:solidFill>
              </a:rPr>
              <a:t>Responsiveness</a:t>
            </a:r>
            <a:endParaRPr lang="en-US" sz="1400" dirty="0"/>
          </a:p>
        </p:txBody>
      </p:sp>
      <p:sp>
        <p:nvSpPr>
          <p:cNvPr id="10" name="Text 7"/>
          <p:cNvSpPr txBox="1"/>
          <p:nvPr/>
        </p:nvSpPr>
        <p:spPr>
          <a:xfrm>
            <a:off x="8869680" y="2660904"/>
            <a:ext cx="2651760" cy="475488"/>
          </a:xfrm>
          <a:prstGeom prst="rect">
            <a:avLst/>
          </a:prstGeom>
          <a:noFill/>
          <a:ln/>
        </p:spPr>
        <p:txBody>
          <a:bodyPr wrap="square" lIns="0" tIns="0" rIns="0" bIns="0" rtlCol="0" anchor="ctr"/>
          <a:lstStyle/>
          <a:p>
            <a:pPr indent="0" marL="0">
              <a:buNone/>
            </a:pPr>
            <a:r>
              <a:rPr lang="en-US" sz="1200" dirty="0">
                <a:solidFill>
                  <a:schemeClr val="accent3"/>
                </a:solidFill>
              </a:rPr>
              <a:t>20-day median wait → </a:t>
            </a:r>
            <a:pPr indent="0" marL="0">
              <a:buNone/>
            </a:pPr>
            <a:r>
              <a:rPr lang="en-US" sz="1200" dirty="0">
                <a:solidFill>
                  <a:schemeClr val="accent1"/>
                </a:solidFill>
              </a:rPr>
              <a:t>2 business days or less</a:t>
            </a:r>
            <a:endParaRPr lang="en-US" sz="1200" dirty="0"/>
          </a:p>
        </p:txBody>
      </p:sp>
      <p:sp>
        <p:nvSpPr>
          <p:cNvPr id="11" name="Shape 8"/>
          <p:cNvSpPr/>
          <p:nvPr/>
        </p:nvSpPr>
        <p:spPr>
          <a:xfrm>
            <a:off x="6766560" y="3300984"/>
            <a:ext cx="4846320" cy="621792"/>
          </a:xfrm>
          <a:prstGeom prst="roundRect">
            <a:avLst>
              <a:gd name="adj" fmla="val 17647"/>
            </a:avLst>
          </a:prstGeom>
          <a:solidFill>
            <a:schemeClr val="bg2"/>
          </a:solidFill>
          <a:ln/>
        </p:spPr>
      </p:sp>
      <p:sp>
        <p:nvSpPr>
          <p:cNvPr id="12" name="Text 9"/>
          <p:cNvSpPr txBox="1"/>
          <p:nvPr/>
        </p:nvSpPr>
        <p:spPr>
          <a:xfrm>
            <a:off x="6949440" y="3374136"/>
            <a:ext cx="1920240" cy="475488"/>
          </a:xfrm>
          <a:prstGeom prst="rect">
            <a:avLst/>
          </a:prstGeom>
          <a:noFill/>
          <a:ln/>
        </p:spPr>
        <p:txBody>
          <a:bodyPr wrap="square" lIns="0" tIns="0" rIns="0" bIns="0" rtlCol="0" anchor="ctr"/>
          <a:lstStyle/>
          <a:p>
            <a:pPr indent="0" marL="0">
              <a:buNone/>
            </a:pPr>
            <a:r>
              <a:rPr lang="en-US" sz="1400" b="1" dirty="0">
                <a:solidFill>
                  <a:schemeClr val="tx1"/>
                </a:solidFill>
              </a:rPr>
              <a:t>Pre-review reconciliation</a:t>
            </a:r>
            <a:endParaRPr lang="en-US" sz="1400" dirty="0"/>
          </a:p>
        </p:txBody>
      </p:sp>
      <p:sp>
        <p:nvSpPr>
          <p:cNvPr id="13" name="Text 10"/>
          <p:cNvSpPr txBox="1"/>
          <p:nvPr/>
        </p:nvSpPr>
        <p:spPr>
          <a:xfrm>
            <a:off x="8869680" y="3374136"/>
            <a:ext cx="2651760" cy="475488"/>
          </a:xfrm>
          <a:prstGeom prst="rect">
            <a:avLst/>
          </a:prstGeom>
          <a:noFill/>
          <a:ln/>
        </p:spPr>
        <p:txBody>
          <a:bodyPr wrap="square" lIns="0" tIns="0" rIns="0" bIns="0" rtlCol="0" anchor="ctr"/>
          <a:lstStyle/>
          <a:p>
            <a:pPr indent="0" marL="0">
              <a:buNone/>
            </a:pPr>
            <a:r>
              <a:rPr lang="en-US" sz="1200" dirty="0">
                <a:solidFill>
                  <a:schemeClr val="accent3"/>
                </a:solidFill>
              </a:rPr>
              <a:t>~2 hours → </a:t>
            </a:r>
            <a:pPr indent="0" marL="0">
              <a:buNone/>
            </a:pPr>
            <a:r>
              <a:rPr lang="en-US" sz="1200" dirty="0">
                <a:solidFill>
                  <a:schemeClr val="accent1"/>
                </a:solidFill>
              </a:rPr>
              <a:t>15 minutes or less</a:t>
            </a:r>
            <a:endParaRPr lang="en-US" sz="1200" dirty="0"/>
          </a:p>
        </p:txBody>
      </p:sp>
      <p:sp>
        <p:nvSpPr>
          <p:cNvPr id="14" name="Shape 11"/>
          <p:cNvSpPr/>
          <p:nvPr/>
        </p:nvSpPr>
        <p:spPr>
          <a:xfrm>
            <a:off x="6766560" y="4014216"/>
            <a:ext cx="4846320" cy="621792"/>
          </a:xfrm>
          <a:prstGeom prst="roundRect">
            <a:avLst>
              <a:gd name="adj" fmla="val 17647"/>
            </a:avLst>
          </a:prstGeom>
          <a:solidFill>
            <a:schemeClr val="bg2"/>
          </a:solidFill>
          <a:ln/>
        </p:spPr>
      </p:sp>
      <p:sp>
        <p:nvSpPr>
          <p:cNvPr id="15" name="Text 12"/>
          <p:cNvSpPr txBox="1"/>
          <p:nvPr/>
        </p:nvSpPr>
        <p:spPr>
          <a:xfrm>
            <a:off x="6949440" y="4087368"/>
            <a:ext cx="1920240" cy="475488"/>
          </a:xfrm>
          <a:prstGeom prst="rect">
            <a:avLst/>
          </a:prstGeom>
          <a:noFill/>
          <a:ln/>
        </p:spPr>
        <p:txBody>
          <a:bodyPr wrap="square" lIns="0" tIns="0" rIns="0" bIns="0" rtlCol="0" anchor="ctr"/>
          <a:lstStyle/>
          <a:p>
            <a:pPr indent="0" marL="0">
              <a:buNone/>
            </a:pPr>
            <a:r>
              <a:rPr lang="en-US" sz="1400" b="1" dirty="0">
                <a:solidFill>
                  <a:schemeClr val="tx1"/>
                </a:solidFill>
              </a:rPr>
              <a:t>Trust</a:t>
            </a:r>
            <a:endParaRPr lang="en-US" sz="1400" dirty="0"/>
          </a:p>
        </p:txBody>
      </p:sp>
      <p:sp>
        <p:nvSpPr>
          <p:cNvPr id="16" name="Text 13"/>
          <p:cNvSpPr txBox="1"/>
          <p:nvPr/>
        </p:nvSpPr>
        <p:spPr>
          <a:xfrm>
            <a:off x="8869680" y="4087368"/>
            <a:ext cx="2651760" cy="475488"/>
          </a:xfrm>
          <a:prstGeom prst="rect">
            <a:avLst/>
          </a:prstGeom>
          <a:noFill/>
          <a:ln/>
        </p:spPr>
        <p:txBody>
          <a:bodyPr wrap="square" lIns="0" tIns="0" rIns="0" bIns="0" rtlCol="0" anchor="ctr"/>
          <a:lstStyle/>
          <a:p>
            <a:pPr indent="0" marL="0">
              <a:buNone/>
            </a:pPr>
            <a:r>
              <a:rPr lang="en-US" sz="1200" dirty="0">
                <a:solidFill>
                  <a:schemeClr val="accent1"/>
                </a:solidFill>
              </a:rPr>
              <a:t>70%+ proposals approved, under 20% dismissed</a:t>
            </a:r>
            <a:endParaRPr lang="en-US" sz="1200" dirty="0"/>
          </a:p>
        </p:txBody>
      </p:sp>
      <p:sp>
        <p:nvSpPr>
          <p:cNvPr id="17" name="Shape 14"/>
          <p:cNvSpPr/>
          <p:nvPr/>
        </p:nvSpPr>
        <p:spPr>
          <a:xfrm>
            <a:off x="6766560" y="4727448"/>
            <a:ext cx="4846320" cy="621792"/>
          </a:xfrm>
          <a:prstGeom prst="roundRect">
            <a:avLst>
              <a:gd name="adj" fmla="val 17647"/>
            </a:avLst>
          </a:prstGeom>
          <a:solidFill>
            <a:schemeClr val="bg2"/>
          </a:solidFill>
          <a:ln/>
        </p:spPr>
      </p:sp>
      <p:sp>
        <p:nvSpPr>
          <p:cNvPr id="18" name="Text 15"/>
          <p:cNvSpPr txBox="1"/>
          <p:nvPr/>
        </p:nvSpPr>
        <p:spPr>
          <a:xfrm>
            <a:off x="6949440" y="4800600"/>
            <a:ext cx="1920240" cy="475488"/>
          </a:xfrm>
          <a:prstGeom prst="rect">
            <a:avLst/>
          </a:prstGeom>
          <a:noFill/>
          <a:ln/>
        </p:spPr>
        <p:txBody>
          <a:bodyPr wrap="square" lIns="0" tIns="0" rIns="0" bIns="0" rtlCol="0" anchor="ctr"/>
          <a:lstStyle/>
          <a:p>
            <a:pPr indent="0" marL="0">
              <a:buNone/>
            </a:pPr>
            <a:r>
              <a:rPr lang="en-US" sz="1400" b="1" dirty="0">
                <a:solidFill>
                  <a:schemeClr val="tx1"/>
                </a:solidFill>
              </a:rPr>
              <a:t>Quality</a:t>
            </a:r>
            <a:endParaRPr lang="en-US" sz="1400" dirty="0"/>
          </a:p>
        </p:txBody>
      </p:sp>
      <p:sp>
        <p:nvSpPr>
          <p:cNvPr id="19" name="Text 16"/>
          <p:cNvSpPr txBox="1"/>
          <p:nvPr/>
        </p:nvSpPr>
        <p:spPr>
          <a:xfrm>
            <a:off x="8869680" y="4800600"/>
            <a:ext cx="2651760" cy="475488"/>
          </a:xfrm>
          <a:prstGeom prst="rect">
            <a:avLst/>
          </a:prstGeom>
          <a:noFill/>
          <a:ln/>
        </p:spPr>
        <p:txBody>
          <a:bodyPr wrap="square" lIns="0" tIns="0" rIns="0" bIns="0" rtlCol="0" anchor="ctr"/>
          <a:lstStyle/>
          <a:p>
            <a:pPr indent="0" marL="0">
              <a:buNone/>
            </a:pPr>
            <a:r>
              <a:rPr lang="en-US" sz="1200" dirty="0">
                <a:solidFill>
                  <a:schemeClr val="accent1"/>
                </a:solidFill>
              </a:rPr>
              <a:t>Recall 90%+, precision 85%+</a:t>
            </a:r>
            <a:endParaRPr lang="en-US" sz="1200" dirty="0"/>
          </a:p>
        </p:txBody>
      </p:sp>
      <p:sp>
        <p:nvSpPr>
          <p:cNvPr id="20" name="Shape 17"/>
          <p:cNvSpPr/>
          <p:nvPr/>
        </p:nvSpPr>
        <p:spPr>
          <a:xfrm>
            <a:off x="6766560" y="5440680"/>
            <a:ext cx="4846320" cy="621792"/>
          </a:xfrm>
          <a:prstGeom prst="roundRect">
            <a:avLst>
              <a:gd name="adj" fmla="val 17647"/>
            </a:avLst>
          </a:prstGeom>
          <a:solidFill>
            <a:schemeClr val="bg2"/>
          </a:solidFill>
          <a:ln/>
        </p:spPr>
      </p:sp>
      <p:sp>
        <p:nvSpPr>
          <p:cNvPr id="21" name="Text 18"/>
          <p:cNvSpPr txBox="1"/>
          <p:nvPr/>
        </p:nvSpPr>
        <p:spPr>
          <a:xfrm>
            <a:off x="6949440" y="5513832"/>
            <a:ext cx="1920240" cy="475488"/>
          </a:xfrm>
          <a:prstGeom prst="rect">
            <a:avLst/>
          </a:prstGeom>
          <a:noFill/>
          <a:ln/>
        </p:spPr>
        <p:txBody>
          <a:bodyPr wrap="square" lIns="0" tIns="0" rIns="0" bIns="0" rtlCol="0" anchor="ctr"/>
          <a:lstStyle/>
          <a:p>
            <a:pPr indent="0" marL="0">
              <a:buNone/>
            </a:pPr>
            <a:r>
              <a:rPr lang="en-US" sz="1400" b="1" dirty="0">
                <a:solidFill>
                  <a:schemeClr val="tx1"/>
                </a:solidFill>
              </a:rPr>
              <a:t>Guardrails</a:t>
            </a:r>
            <a:endParaRPr lang="en-US" sz="1400" dirty="0"/>
          </a:p>
        </p:txBody>
      </p:sp>
      <p:sp>
        <p:nvSpPr>
          <p:cNvPr id="22" name="Text 19"/>
          <p:cNvSpPr txBox="1"/>
          <p:nvPr/>
        </p:nvSpPr>
        <p:spPr>
          <a:xfrm>
            <a:off x="8869680" y="5513832"/>
            <a:ext cx="2651760" cy="475488"/>
          </a:xfrm>
          <a:prstGeom prst="rect">
            <a:avLst/>
          </a:prstGeom>
          <a:noFill/>
          <a:ln/>
        </p:spPr>
        <p:txBody>
          <a:bodyPr wrap="square" lIns="0" tIns="0" rIns="0" bIns="0" rtlCol="0" anchor="ctr"/>
          <a:lstStyle/>
          <a:p>
            <a:pPr indent="0" marL="0">
              <a:buNone/>
            </a:pPr>
            <a:r>
              <a:rPr lang="en-US" sz="1200" dirty="0">
                <a:solidFill>
                  <a:schemeClr val="accent1"/>
                </a:solidFill>
              </a:rPr>
              <a:t>0 unapproved sends, writes or invented facts</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The North Star leads; revenue follows</a:t>
            </a:r>
            <a:endParaRPr lang="en-US" sz="3000" dirty="0"/>
          </a:p>
        </p:txBody>
      </p:sp>
      <p:sp>
        <p:nvSpPr>
          <p:cNvPr id="3" name="Shape 1"/>
          <p:cNvSpPr/>
          <p:nvPr/>
        </p:nvSpPr>
        <p:spPr>
          <a:xfrm>
            <a:off x="548640" y="1417320"/>
            <a:ext cx="3291840" cy="4206240"/>
          </a:xfrm>
          <a:prstGeom prst="roundRect">
            <a:avLst>
              <a:gd name="adj" fmla="val 3333"/>
            </a:avLst>
          </a:prstGeom>
          <a:solidFill>
            <a:schemeClr val="tx2"/>
          </a:solidFill>
          <a:ln/>
        </p:spPr>
      </p:sp>
      <p:sp>
        <p:nvSpPr>
          <p:cNvPr id="4" name="Text 2"/>
          <p:cNvSpPr txBox="1"/>
          <p:nvPr/>
        </p:nvSpPr>
        <p:spPr>
          <a:xfrm>
            <a:off x="822960" y="1645920"/>
            <a:ext cx="2743200" cy="365760"/>
          </a:xfrm>
          <a:prstGeom prst="rect">
            <a:avLst/>
          </a:prstGeom>
          <a:noFill/>
          <a:ln/>
        </p:spPr>
        <p:txBody>
          <a:bodyPr wrap="square" lIns="0" tIns="0" rIns="0" bIns="0" rtlCol="0" anchor="t"/>
          <a:lstStyle/>
          <a:p>
            <a:pPr indent="0" marL="0">
              <a:buNone/>
            </a:pPr>
            <a:r>
              <a:rPr lang="en-US" sz="1300" b="1" dirty="0">
                <a:solidFill>
                  <a:schemeClr val="accent2"/>
                </a:solidFill>
              </a:rPr>
              <a:t>Leading: the product controls it</a:t>
            </a:r>
            <a:endParaRPr lang="en-US" sz="1300" dirty="0"/>
          </a:p>
        </p:txBody>
      </p:sp>
      <p:sp>
        <p:nvSpPr>
          <p:cNvPr id="5" name="Text 3"/>
          <p:cNvSpPr txBox="1"/>
          <p:nvPr/>
        </p:nvSpPr>
        <p:spPr>
          <a:xfrm>
            <a:off x="822960" y="2057400"/>
            <a:ext cx="2743200" cy="82296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Commitments Kept on Time</a:t>
            </a:r>
            <a:endParaRPr lang="en-US" sz="2200" dirty="0"/>
          </a:p>
        </p:txBody>
      </p:sp>
      <p:sp>
        <p:nvSpPr>
          <p:cNvPr id="6" name="Text 4"/>
          <p:cNvSpPr txBox="1"/>
          <p:nvPr/>
        </p:nvSpPr>
        <p:spPr>
          <a:xfrm>
            <a:off x="822960" y="2971800"/>
            <a:ext cx="2743200" cy="2514600"/>
          </a:xfrm>
          <a:prstGeom prst="rect">
            <a:avLst/>
          </a:prstGeom>
          <a:noFill/>
          <a:ln/>
        </p:spPr>
        <p:txBody>
          <a:bodyPr wrap="square" lIns="0" tIns="0" rIns="0" bIns="0" rtlCol="0" anchor="t"/>
          <a:lstStyle/>
          <a:p>
            <a:pPr indent="0" marL="0">
              <a:buNone/>
            </a:pPr>
            <a:r>
              <a:rPr lang="en-US" sz="1500" dirty="0">
                <a:solidFill>
                  <a:schemeClr val="bg1"/>
                </a:solidFill>
              </a:rPr>
              <a:t>Moves daily. Measures the exact failure we found: deals lost to forgotten follow-ups.</a:t>
            </a:r>
            <a:endParaRPr lang="en-US" sz="1500" dirty="0"/>
          </a:p>
          <a:p>
            <a:pPr indent="0" marL="0">
              <a:buNone/>
            </a:pPr>
            <a:endParaRPr lang="en-US" sz="1500" dirty="0"/>
          </a:p>
          <a:p>
            <a:pPr indent="0" marL="0">
              <a:buNone/>
            </a:pPr>
            <a:r>
              <a:rPr lang="en-US" sz="1500" dirty="0">
                <a:solidFill>
                  <a:schemeClr val="bg1"/>
                </a:solidFill>
              </a:rPr>
              <a:t>41% today, 80% to leave rollout, 90% by end of Q4.</a:t>
            </a:r>
            <a:endParaRPr lang="en-US" sz="1500" dirty="0"/>
          </a:p>
          <a:p>
            <a:pPr indent="0" marL="0">
              <a:buNone/>
            </a:pPr>
            <a:endParaRPr lang="en-US" sz="1500" dirty="0"/>
          </a:p>
          <a:p>
            <a:pPr indent="0" marL="0">
              <a:buNone/>
            </a:pPr>
            <a:r>
              <a:rPr lang="en-US" sz="1500" dirty="0">
                <a:solidFill>
                  <a:schemeClr val="bg1"/>
                </a:solidFill>
              </a:rPr>
              <a:t>If kept deals don't win more often within two quarters, we revisit the lever.</a:t>
            </a:r>
            <a:endParaRPr lang="en-US" sz="1500" dirty="0"/>
          </a:p>
        </p:txBody>
      </p:sp>
      <p:sp>
        <p:nvSpPr>
          <p:cNvPr id="7" name="Shape 5"/>
          <p:cNvSpPr/>
          <p:nvPr/>
        </p:nvSpPr>
        <p:spPr>
          <a:xfrm>
            <a:off x="3977640" y="3291840"/>
            <a:ext cx="274320" cy="457200"/>
          </a:xfrm>
          <a:prstGeom prst="chevron">
            <a:avLst/>
          </a:prstGeom>
          <a:solidFill>
            <a:schemeClr val="accent2"/>
          </a:solidFill>
          <a:ln/>
        </p:spPr>
      </p:sp>
      <p:sp>
        <p:nvSpPr>
          <p:cNvPr id="8" name="Text 6"/>
          <p:cNvSpPr txBox="1"/>
          <p:nvPr/>
        </p:nvSpPr>
        <p:spPr>
          <a:xfrm>
            <a:off x="4434840" y="1417320"/>
            <a:ext cx="7132320" cy="365760"/>
          </a:xfrm>
          <a:prstGeom prst="rect">
            <a:avLst/>
          </a:prstGeom>
          <a:noFill/>
          <a:ln/>
        </p:spPr>
        <p:txBody>
          <a:bodyPr wrap="square" lIns="0" tIns="0" rIns="0" bIns="0" rtlCol="0" anchor="t"/>
          <a:lstStyle/>
          <a:p>
            <a:pPr indent="0" marL="0">
              <a:buNone/>
            </a:pPr>
            <a:r>
              <a:rPr lang="en-US" sz="1600" b="1" dirty="0">
                <a:solidFill>
                  <a:schemeClr val="tx2"/>
                </a:solidFill>
              </a:rPr>
              <a:t>Lagging: revenue outcomes it should drive</a:t>
            </a:r>
            <a:endParaRPr lang="en-US" sz="1600" dirty="0"/>
          </a:p>
        </p:txBody>
      </p:sp>
      <p:sp>
        <p:nvSpPr>
          <p:cNvPr id="9" name="Shape 7"/>
          <p:cNvSpPr/>
          <p:nvPr/>
        </p:nvSpPr>
        <p:spPr>
          <a:xfrm>
            <a:off x="4434840" y="1874520"/>
            <a:ext cx="7178040" cy="841248"/>
          </a:xfrm>
          <a:prstGeom prst="roundRect">
            <a:avLst>
              <a:gd name="adj" fmla="val 13043"/>
            </a:avLst>
          </a:prstGeom>
          <a:solidFill>
            <a:schemeClr val="bg2"/>
          </a:solidFill>
          <a:ln/>
        </p:spPr>
      </p:sp>
      <p:sp>
        <p:nvSpPr>
          <p:cNvPr id="10" name="Text 8"/>
          <p:cNvSpPr txBox="1"/>
          <p:nvPr/>
        </p:nvSpPr>
        <p:spPr>
          <a:xfrm>
            <a:off x="4663440" y="1965960"/>
            <a:ext cx="2743200" cy="658368"/>
          </a:xfrm>
          <a:prstGeom prst="rect">
            <a:avLst/>
          </a:prstGeom>
          <a:noFill/>
          <a:ln/>
        </p:spPr>
        <p:txBody>
          <a:bodyPr wrap="square" lIns="0" tIns="0" rIns="0" bIns="0" rtlCol="0" anchor="ctr"/>
          <a:lstStyle/>
          <a:p>
            <a:pPr indent="0" marL="0">
              <a:buNone/>
            </a:pPr>
            <a:r>
              <a:rPr lang="en-US" sz="1500" b="1" dirty="0">
                <a:solidFill>
                  <a:schemeClr val="tx2"/>
                </a:solidFill>
              </a:rPr>
              <a:t>Win rate: kept vs slipped deals</a:t>
            </a:r>
            <a:endParaRPr lang="en-US" sz="1500" dirty="0"/>
          </a:p>
        </p:txBody>
      </p:sp>
      <p:sp>
        <p:nvSpPr>
          <p:cNvPr id="11" name="Text 9"/>
          <p:cNvSpPr txBox="1"/>
          <p:nvPr/>
        </p:nvSpPr>
        <p:spPr>
          <a:xfrm>
            <a:off x="7406640" y="1947672"/>
            <a:ext cx="4069080" cy="384048"/>
          </a:xfrm>
          <a:prstGeom prst="rect">
            <a:avLst/>
          </a:prstGeom>
          <a:noFill/>
          <a:ln/>
        </p:spPr>
        <p:txBody>
          <a:bodyPr wrap="square" lIns="0" tIns="0" rIns="0" bIns="0" rtlCol="0" anchor="t"/>
          <a:lstStyle/>
          <a:p>
            <a:pPr indent="0" marL="0">
              <a:buNone/>
            </a:pPr>
            <a:r>
              <a:rPr lang="en-US" sz="1200" dirty="0">
                <a:solidFill>
                  <a:schemeClr val="tx1"/>
                </a:solidFill>
              </a:rPr>
              <a:t>Deals where every commitment was kept vs deals where one slipped.</a:t>
            </a:r>
            <a:endParaRPr lang="en-US" sz="1200" dirty="0"/>
          </a:p>
        </p:txBody>
      </p:sp>
      <p:sp>
        <p:nvSpPr>
          <p:cNvPr id="12" name="Text 10"/>
          <p:cNvSpPr txBox="1"/>
          <p:nvPr/>
        </p:nvSpPr>
        <p:spPr>
          <a:xfrm>
            <a:off x="7406640" y="2331720"/>
            <a:ext cx="4069080" cy="347472"/>
          </a:xfrm>
          <a:prstGeom prst="rect">
            <a:avLst/>
          </a:prstGeom>
          <a:noFill/>
          <a:ln/>
        </p:spPr>
        <p:txBody>
          <a:bodyPr wrap="square" lIns="0" tIns="0" rIns="0" bIns="0" rtlCol="0" anchor="t"/>
          <a:lstStyle/>
          <a:p>
            <a:pPr indent="0" marL="0">
              <a:buNone/>
            </a:pPr>
            <a:r>
              <a:rPr lang="en-US" sz="1200" i="1" dirty="0">
                <a:solidFill>
                  <a:schemeClr val="accent1"/>
                </a:solidFill>
              </a:rPr>
              <a:t>Baseline in beta. Today: 5 of 9 closed deals won (56%).</a:t>
            </a:r>
            <a:endParaRPr lang="en-US" sz="1200" dirty="0"/>
          </a:p>
        </p:txBody>
      </p:sp>
      <p:sp>
        <p:nvSpPr>
          <p:cNvPr id="13" name="Shape 11"/>
          <p:cNvSpPr/>
          <p:nvPr/>
        </p:nvSpPr>
        <p:spPr>
          <a:xfrm>
            <a:off x="4434840" y="2834640"/>
            <a:ext cx="7178040" cy="841248"/>
          </a:xfrm>
          <a:prstGeom prst="roundRect">
            <a:avLst>
              <a:gd name="adj" fmla="val 13043"/>
            </a:avLst>
          </a:prstGeom>
          <a:solidFill>
            <a:schemeClr val="bg2"/>
          </a:solidFill>
          <a:ln/>
        </p:spPr>
      </p:sp>
      <p:sp>
        <p:nvSpPr>
          <p:cNvPr id="14" name="Text 12"/>
          <p:cNvSpPr txBox="1"/>
          <p:nvPr/>
        </p:nvSpPr>
        <p:spPr>
          <a:xfrm>
            <a:off x="4663440" y="2926080"/>
            <a:ext cx="2743200" cy="658368"/>
          </a:xfrm>
          <a:prstGeom prst="rect">
            <a:avLst/>
          </a:prstGeom>
          <a:noFill/>
          <a:ln/>
        </p:spPr>
        <p:txBody>
          <a:bodyPr wrap="square" lIns="0" tIns="0" rIns="0" bIns="0" rtlCol="0" anchor="ctr"/>
          <a:lstStyle/>
          <a:p>
            <a:pPr indent="0" marL="0">
              <a:buNone/>
            </a:pPr>
            <a:r>
              <a:rPr lang="en-US" sz="1500" b="1" dirty="0">
                <a:solidFill>
                  <a:schemeClr val="tx2"/>
                </a:solidFill>
              </a:rPr>
              <a:t>Stage conversion</a:t>
            </a:r>
            <a:endParaRPr lang="en-US" sz="1500" dirty="0"/>
          </a:p>
        </p:txBody>
      </p:sp>
      <p:sp>
        <p:nvSpPr>
          <p:cNvPr id="15" name="Text 13"/>
          <p:cNvSpPr txBox="1"/>
          <p:nvPr/>
        </p:nvSpPr>
        <p:spPr>
          <a:xfrm>
            <a:off x="7406640" y="2907792"/>
            <a:ext cx="4069080" cy="384048"/>
          </a:xfrm>
          <a:prstGeom prst="rect">
            <a:avLst/>
          </a:prstGeom>
          <a:noFill/>
          <a:ln/>
        </p:spPr>
        <p:txBody>
          <a:bodyPr wrap="square" lIns="0" tIns="0" rIns="0" bIns="0" rtlCol="0" anchor="t"/>
          <a:lstStyle/>
          <a:p>
            <a:pPr indent="0" marL="0">
              <a:buNone/>
            </a:pPr>
            <a:r>
              <a:rPr lang="en-US" sz="1200" dirty="0">
                <a:solidFill>
                  <a:schemeClr val="tx1"/>
                </a:solidFill>
              </a:rPr>
              <a:t>Share of deals moving Proposal Sent to Won, per quarter.</a:t>
            </a:r>
            <a:endParaRPr lang="en-US" sz="1200" dirty="0"/>
          </a:p>
        </p:txBody>
      </p:sp>
      <p:sp>
        <p:nvSpPr>
          <p:cNvPr id="16" name="Text 14"/>
          <p:cNvSpPr txBox="1"/>
          <p:nvPr/>
        </p:nvSpPr>
        <p:spPr>
          <a:xfrm>
            <a:off x="7406640" y="3291840"/>
            <a:ext cx="4069080" cy="347472"/>
          </a:xfrm>
          <a:prstGeom prst="rect">
            <a:avLst/>
          </a:prstGeom>
          <a:noFill/>
          <a:ln/>
        </p:spPr>
        <p:txBody>
          <a:bodyPr wrap="square" lIns="0" tIns="0" rIns="0" bIns="0" rtlCol="0" anchor="t"/>
          <a:lstStyle/>
          <a:p>
            <a:pPr indent="0" marL="0">
              <a:buNone/>
            </a:pPr>
            <a:r>
              <a:rPr lang="en-US" sz="1200" i="1" dirty="0">
                <a:solidFill>
                  <a:schemeClr val="accent1"/>
                </a:solidFill>
              </a:rPr>
              <a:t>Baseline in beta (no stage history yet). $263k at Proposal Sent today.</a:t>
            </a:r>
            <a:endParaRPr lang="en-US" sz="1200" dirty="0"/>
          </a:p>
        </p:txBody>
      </p:sp>
      <p:sp>
        <p:nvSpPr>
          <p:cNvPr id="17" name="Shape 15"/>
          <p:cNvSpPr/>
          <p:nvPr/>
        </p:nvSpPr>
        <p:spPr>
          <a:xfrm>
            <a:off x="4434840" y="3794760"/>
            <a:ext cx="7178040" cy="841248"/>
          </a:xfrm>
          <a:prstGeom prst="roundRect">
            <a:avLst>
              <a:gd name="adj" fmla="val 13043"/>
            </a:avLst>
          </a:prstGeom>
          <a:solidFill>
            <a:schemeClr val="bg2"/>
          </a:solidFill>
          <a:ln/>
        </p:spPr>
      </p:sp>
      <p:sp>
        <p:nvSpPr>
          <p:cNvPr id="18" name="Text 16"/>
          <p:cNvSpPr txBox="1"/>
          <p:nvPr/>
        </p:nvSpPr>
        <p:spPr>
          <a:xfrm>
            <a:off x="4663440" y="3886200"/>
            <a:ext cx="2743200" cy="658368"/>
          </a:xfrm>
          <a:prstGeom prst="rect">
            <a:avLst/>
          </a:prstGeom>
          <a:noFill/>
          <a:ln/>
        </p:spPr>
        <p:txBody>
          <a:bodyPr wrap="square" lIns="0" tIns="0" rIns="0" bIns="0" rtlCol="0" anchor="ctr"/>
          <a:lstStyle/>
          <a:p>
            <a:pPr indent="0" marL="0">
              <a:buNone/>
            </a:pPr>
            <a:r>
              <a:rPr lang="en-US" sz="1500" b="1" dirty="0">
                <a:solidFill>
                  <a:schemeClr val="tx2"/>
                </a:solidFill>
              </a:rPr>
              <a:t>Days in stage</a:t>
            </a:r>
            <a:endParaRPr lang="en-US" sz="1500" dirty="0"/>
          </a:p>
        </p:txBody>
      </p:sp>
      <p:sp>
        <p:nvSpPr>
          <p:cNvPr id="19" name="Text 17"/>
          <p:cNvSpPr txBox="1"/>
          <p:nvPr/>
        </p:nvSpPr>
        <p:spPr>
          <a:xfrm>
            <a:off x="7406640" y="3867912"/>
            <a:ext cx="4069080" cy="384048"/>
          </a:xfrm>
          <a:prstGeom prst="rect">
            <a:avLst/>
          </a:prstGeom>
          <a:noFill/>
          <a:ln/>
        </p:spPr>
        <p:txBody>
          <a:bodyPr wrap="square" lIns="0" tIns="0" rIns="0" bIns="0" rtlCol="0" anchor="t"/>
          <a:lstStyle/>
          <a:p>
            <a:pPr indent="0" marL="0">
              <a:buNone/>
            </a:pPr>
            <a:r>
              <a:rPr lang="en-US" sz="1200" dirty="0">
                <a:solidFill>
                  <a:schemeClr val="tx1"/>
                </a:solidFill>
              </a:rPr>
              <a:t>Median days a deal waits at each stage.</a:t>
            </a:r>
            <a:endParaRPr lang="en-US" sz="1200" dirty="0"/>
          </a:p>
        </p:txBody>
      </p:sp>
      <p:sp>
        <p:nvSpPr>
          <p:cNvPr id="20" name="Text 18"/>
          <p:cNvSpPr txBox="1"/>
          <p:nvPr/>
        </p:nvSpPr>
        <p:spPr>
          <a:xfrm>
            <a:off x="7406640" y="4251960"/>
            <a:ext cx="4069080" cy="347472"/>
          </a:xfrm>
          <a:prstGeom prst="rect">
            <a:avLst/>
          </a:prstGeom>
          <a:noFill/>
          <a:ln/>
        </p:spPr>
        <p:txBody>
          <a:bodyPr wrap="square" lIns="0" tIns="0" rIns="0" bIns="0" rtlCol="0" anchor="t"/>
          <a:lstStyle/>
          <a:p>
            <a:pPr indent="0" marL="0">
              <a:buNone/>
            </a:pPr>
            <a:r>
              <a:rPr lang="en-US" sz="1200" i="1" dirty="0">
                <a:solidFill>
                  <a:schemeClr val="accent1"/>
                </a:solidFill>
              </a:rPr>
              <a:t>Proxy: 79 days at Proposal Sent since last CRM contact. Target under 30.</a:t>
            </a:r>
            <a:endParaRPr lang="en-US" sz="1200" dirty="0"/>
          </a:p>
        </p:txBody>
      </p:sp>
      <p:sp>
        <p:nvSpPr>
          <p:cNvPr id="21" name="Shape 19"/>
          <p:cNvSpPr/>
          <p:nvPr/>
        </p:nvSpPr>
        <p:spPr>
          <a:xfrm>
            <a:off x="4434840" y="4754880"/>
            <a:ext cx="7178040" cy="841248"/>
          </a:xfrm>
          <a:prstGeom prst="roundRect">
            <a:avLst>
              <a:gd name="adj" fmla="val 13043"/>
            </a:avLst>
          </a:prstGeom>
          <a:solidFill>
            <a:schemeClr val="bg2"/>
          </a:solidFill>
          <a:ln/>
        </p:spPr>
      </p:sp>
      <p:sp>
        <p:nvSpPr>
          <p:cNvPr id="22" name="Text 20"/>
          <p:cNvSpPr txBox="1"/>
          <p:nvPr/>
        </p:nvSpPr>
        <p:spPr>
          <a:xfrm>
            <a:off x="4663440" y="4846320"/>
            <a:ext cx="2743200" cy="658368"/>
          </a:xfrm>
          <a:prstGeom prst="rect">
            <a:avLst/>
          </a:prstGeom>
          <a:noFill/>
          <a:ln/>
        </p:spPr>
        <p:txBody>
          <a:bodyPr wrap="square" lIns="0" tIns="0" rIns="0" bIns="0" rtlCol="0" anchor="ctr"/>
          <a:lstStyle/>
          <a:p>
            <a:pPr indent="0" marL="0">
              <a:buNone/>
            </a:pPr>
            <a:r>
              <a:rPr lang="en-US" sz="1500" b="1" dirty="0">
                <a:solidFill>
                  <a:schemeClr val="tx2"/>
                </a:solidFill>
              </a:rPr>
              <a:t>Pipeline behind a missed action</a:t>
            </a:r>
            <a:endParaRPr lang="en-US" sz="1500" dirty="0"/>
          </a:p>
        </p:txBody>
      </p:sp>
      <p:sp>
        <p:nvSpPr>
          <p:cNvPr id="23" name="Text 21"/>
          <p:cNvSpPr txBox="1"/>
          <p:nvPr/>
        </p:nvSpPr>
        <p:spPr>
          <a:xfrm>
            <a:off x="7406640" y="4828032"/>
            <a:ext cx="4069080" cy="384048"/>
          </a:xfrm>
          <a:prstGeom prst="rect">
            <a:avLst/>
          </a:prstGeom>
          <a:noFill/>
          <a:ln/>
        </p:spPr>
        <p:txBody>
          <a:bodyPr wrap="square" lIns="0" tIns="0" rIns="0" bIns="0" rtlCol="0" anchor="t"/>
          <a:lstStyle/>
          <a:p>
            <a:pPr indent="0" marL="0">
              <a:buNone/>
            </a:pPr>
            <a:r>
              <a:rPr lang="en-US" sz="1200" dirty="0">
                <a:solidFill>
                  <a:schemeClr val="tx1"/>
                </a:solidFill>
              </a:rPr>
              <a:t>Valued pipeline waiting on an overdue or at-risk AtliQ step.</a:t>
            </a:r>
            <a:endParaRPr lang="en-US" sz="1200" dirty="0"/>
          </a:p>
        </p:txBody>
      </p:sp>
      <p:sp>
        <p:nvSpPr>
          <p:cNvPr id="24" name="Text 22"/>
          <p:cNvSpPr txBox="1"/>
          <p:nvPr/>
        </p:nvSpPr>
        <p:spPr>
          <a:xfrm>
            <a:off x="7406640" y="5212080"/>
            <a:ext cx="4069080" cy="347472"/>
          </a:xfrm>
          <a:prstGeom prst="rect">
            <a:avLst/>
          </a:prstGeom>
          <a:noFill/>
          <a:ln/>
        </p:spPr>
        <p:txBody>
          <a:bodyPr wrap="square" lIns="0" tIns="0" rIns="0" bIns="0" rtlCol="0" anchor="t"/>
          <a:lstStyle/>
          <a:p>
            <a:pPr indent="0" marL="0">
              <a:buNone/>
            </a:pPr>
            <a:r>
              <a:rPr lang="en-US" sz="1200" i="1" dirty="0">
                <a:solidFill>
                  <a:schemeClr val="accent1"/>
                </a:solidFill>
              </a:rPr>
              <a:t>$442.5k across 8 deals today; target under $50k.</a:t>
            </a:r>
            <a:endParaRPr lang="en-US" sz="1200" dirty="0"/>
          </a:p>
        </p:txBody>
      </p:sp>
      <p:sp>
        <p:nvSpPr>
          <p:cNvPr id="25" name="Shape 23"/>
          <p:cNvSpPr/>
          <p:nvPr/>
        </p:nvSpPr>
        <p:spPr>
          <a:xfrm>
            <a:off x="548640" y="5760720"/>
            <a:ext cx="11064240" cy="502920"/>
          </a:xfrm>
          <a:prstGeom prst="roundRect">
            <a:avLst>
              <a:gd name="adj" fmla="val 21818"/>
            </a:avLst>
          </a:prstGeom>
          <a:solidFill>
            <a:srgbClr val="FBEDEC"/>
          </a:solidFill>
          <a:ln/>
        </p:spPr>
      </p:sp>
      <p:sp>
        <p:nvSpPr>
          <p:cNvPr id="26" name="Text 24"/>
          <p:cNvSpPr txBox="1"/>
          <p:nvPr/>
        </p:nvSpPr>
        <p:spPr>
          <a:xfrm>
            <a:off x="777240" y="5806440"/>
            <a:ext cx="10607040" cy="411480"/>
          </a:xfrm>
          <a:prstGeom prst="rect">
            <a:avLst/>
          </a:prstGeom>
          <a:noFill/>
          <a:ln/>
        </p:spPr>
        <p:txBody>
          <a:bodyPr wrap="square" lIns="0" tIns="0" rIns="0" bIns="0" rtlCol="0" anchor="ctr"/>
          <a:lstStyle/>
          <a:p>
            <a:pPr indent="0" marL="0">
              <a:buNone/>
            </a:pPr>
            <a:r>
              <a:rPr lang="en-US" sz="1300" b="1" dirty="0">
                <a:solidFill>
                  <a:schemeClr val="accent3"/>
                </a:solidFill>
              </a:rPr>
              <a:t>Counter-metric: </a:t>
            </a:r>
            <a:pPr indent="0" marL="0">
              <a:buNone/>
            </a:pPr>
            <a:r>
              <a:rPr lang="en-US" sz="1300" dirty="0">
                <a:solidFill>
                  <a:schemeClr val="tx1"/>
                </a:solidFill>
              </a:rPr>
              <a:t>share of dated next steps that slip again (8 of 9 AtliQ promises slipped in June). Target under 10%, so nobody games the score by postponing.</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The prototype already passes the launch evals on the dataset</a:t>
            </a:r>
            <a:endParaRPr lang="en-US" sz="3000" dirty="0"/>
          </a:p>
        </p:txBody>
      </p:sp>
      <p:graphicFrame>
        <p:nvGraphicFramePr>
          <p:cNvPr id="3" name="Chart 0" descr=""/>
          <p:cNvGraphicFramePr/>
          <p:nvPr/>
        </p:nvGraphicFramePr>
        <p:xfrm>
          <a:off x="548640" y="1371600"/>
          <a:ext cx="6766560" cy="47548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680960" y="1463040"/>
            <a:ext cx="3931920" cy="1965960"/>
          </a:xfrm>
          <a:prstGeom prst="roundRect">
            <a:avLst>
              <a:gd name="adj" fmla="val 5581"/>
            </a:avLst>
          </a:prstGeom>
          <a:solidFill>
            <a:schemeClr val="tx2"/>
          </a:solidFill>
          <a:ln/>
        </p:spPr>
      </p:sp>
      <p:sp>
        <p:nvSpPr>
          <p:cNvPr id="5" name="Text 2"/>
          <p:cNvSpPr txBox="1"/>
          <p:nvPr/>
        </p:nvSpPr>
        <p:spPr>
          <a:xfrm>
            <a:off x="7955280" y="1645920"/>
            <a:ext cx="3383280" cy="68580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4 of 4</a:t>
            </a:r>
            <a:endParaRPr lang="en-US" sz="4000" dirty="0"/>
          </a:p>
        </p:txBody>
      </p:sp>
      <p:sp>
        <p:nvSpPr>
          <p:cNvPr id="6" name="Text 3"/>
          <p:cNvSpPr txBox="1"/>
          <p:nvPr/>
        </p:nvSpPr>
        <p:spPr>
          <a:xfrm>
            <a:off x="7955280" y="2377440"/>
            <a:ext cx="3383280" cy="914400"/>
          </a:xfrm>
          <a:prstGeom prst="rect">
            <a:avLst/>
          </a:prstGeom>
          <a:noFill/>
          <a:ln/>
        </p:spPr>
        <p:txBody>
          <a:bodyPr wrap="square" lIns="0" tIns="0" rIns="0" bIns="0" rtlCol="0" anchor="t"/>
          <a:lstStyle/>
          <a:p>
            <a:pPr indent="0" marL="0">
              <a:buNone/>
            </a:pPr>
            <a:r>
              <a:rPr lang="en-US" sz="1400" dirty="0">
                <a:solidFill>
                  <a:schemeClr val="bg1"/>
                </a:solidFill>
              </a:rPr>
              <a:t>must-have deals in Bhavin's top five: FinEdge, NovaPharma, ShopSwift, Meridian</a:t>
            </a:r>
            <a:endParaRPr lang="en-US" sz="1400" dirty="0"/>
          </a:p>
        </p:txBody>
      </p:sp>
      <p:sp>
        <p:nvSpPr>
          <p:cNvPr id="7" name="Shape 4"/>
          <p:cNvSpPr/>
          <p:nvPr/>
        </p:nvSpPr>
        <p:spPr>
          <a:xfrm>
            <a:off x="7680960" y="3611880"/>
            <a:ext cx="3931920" cy="2514600"/>
          </a:xfrm>
          <a:prstGeom prst="roundRect">
            <a:avLst>
              <a:gd name="adj" fmla="val 4364"/>
            </a:avLst>
          </a:prstGeom>
          <a:solidFill>
            <a:schemeClr val="bg2"/>
          </a:solidFill>
          <a:ln/>
        </p:spPr>
      </p:sp>
      <p:sp>
        <p:nvSpPr>
          <p:cNvPr id="8" name="Text 5"/>
          <p:cNvSpPr txBox="1"/>
          <p:nvPr/>
        </p:nvSpPr>
        <p:spPr>
          <a:xfrm>
            <a:off x="7955280" y="3794760"/>
            <a:ext cx="3383280" cy="365760"/>
          </a:xfrm>
          <a:prstGeom prst="rect">
            <a:avLst/>
          </a:prstGeom>
          <a:noFill/>
          <a:ln/>
        </p:spPr>
        <p:txBody>
          <a:bodyPr wrap="square" lIns="0" tIns="0" rIns="0" bIns="0" rtlCol="0" anchor="t"/>
          <a:lstStyle/>
          <a:p>
            <a:pPr indent="0" marL="0">
              <a:buNone/>
            </a:pPr>
            <a:r>
              <a:rPr lang="en-US" sz="1600" b="1" dirty="0">
                <a:solidFill>
                  <a:schemeClr val="tx2"/>
                </a:solidFill>
              </a:rPr>
              <a:t>The build is the gate</a:t>
            </a:r>
            <a:endParaRPr lang="en-US" sz="1600" dirty="0"/>
          </a:p>
        </p:txBody>
      </p:sp>
      <p:sp>
        <p:nvSpPr>
          <p:cNvPr id="9" name="Text 6"/>
          <p:cNvSpPr txBox="1"/>
          <p:nvPr/>
        </p:nvSpPr>
        <p:spPr>
          <a:xfrm>
            <a:off x="7955280" y="4206240"/>
            <a:ext cx="3383280" cy="1783080"/>
          </a:xfrm>
          <a:prstGeom prst="rect">
            <a:avLst/>
          </a:prstGeom>
          <a:noFill/>
          <a:ln/>
        </p:spPr>
        <p:txBody>
          <a:bodyPr wrap="square" lIns="0" tIns="0" rIns="0" bIns="0" rtlCol="0" anchor="t"/>
          <a:lstStyle/>
          <a:p>
            <a:pPr indent="0" marL="0">
              <a:buNone/>
            </a:pPr>
            <a:r>
              <a:rPr lang="en-US" sz="1400" dirty="0">
                <a:solidFill>
                  <a:schemeClr val="tx1"/>
                </a:solidFill>
              </a:rPr>
              <a:t>Deployment fails if any shown item lacks a verified quote, or any draft names another client or states an amount not in that client's own records.</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The highest risks, and the guardrail for each</a:t>
            </a:r>
            <a:endParaRPr lang="en-US" sz="3000" dirty="0"/>
          </a:p>
        </p:txBody>
      </p:sp>
      <p:sp>
        <p:nvSpPr>
          <p:cNvPr id="3" name="Shape 1"/>
          <p:cNvSpPr/>
          <p:nvPr/>
        </p:nvSpPr>
        <p:spPr>
          <a:xfrm>
            <a:off x="548640" y="1371600"/>
            <a:ext cx="3931920" cy="777240"/>
          </a:xfrm>
          <a:prstGeom prst="roundRect">
            <a:avLst>
              <a:gd name="adj" fmla="val 14118"/>
            </a:avLst>
          </a:prstGeom>
          <a:solidFill>
            <a:srgbClr val="FBEDEC"/>
          </a:solidFill>
          <a:ln/>
        </p:spPr>
      </p:sp>
      <p:sp>
        <p:nvSpPr>
          <p:cNvPr id="4" name="Text 2"/>
          <p:cNvSpPr txBox="1"/>
          <p:nvPr/>
        </p:nvSpPr>
        <p:spPr>
          <a:xfrm>
            <a:off x="777240" y="1463040"/>
            <a:ext cx="3566160" cy="594360"/>
          </a:xfrm>
          <a:prstGeom prst="rect">
            <a:avLst/>
          </a:prstGeom>
          <a:noFill/>
          <a:ln/>
        </p:spPr>
        <p:txBody>
          <a:bodyPr wrap="square" lIns="0" tIns="0" rIns="0" bIns="0" rtlCol="0" anchor="ctr"/>
          <a:lstStyle/>
          <a:p>
            <a:pPr indent="0" marL="0">
              <a:buNone/>
            </a:pPr>
            <a:r>
              <a:rPr lang="en-US" sz="1400" b="1" dirty="0">
                <a:solidFill>
                  <a:schemeClr val="accent3"/>
                </a:solidFill>
              </a:rPr>
              <a:t>A message or CRM change without approval</a:t>
            </a:r>
            <a:endParaRPr lang="en-US" sz="1400" dirty="0"/>
          </a:p>
        </p:txBody>
      </p:sp>
      <p:sp>
        <p:nvSpPr>
          <p:cNvPr id="5" name="Shape 3"/>
          <p:cNvSpPr/>
          <p:nvPr/>
        </p:nvSpPr>
        <p:spPr>
          <a:xfrm>
            <a:off x="4572000" y="1627632"/>
            <a:ext cx="146304" cy="274320"/>
          </a:xfrm>
          <a:prstGeom prst="chevron">
            <a:avLst/>
          </a:prstGeom>
          <a:solidFill>
            <a:schemeClr val="accent4"/>
          </a:solidFill>
          <a:ln/>
        </p:spPr>
      </p:sp>
      <p:sp>
        <p:nvSpPr>
          <p:cNvPr id="6" name="Shape 4"/>
          <p:cNvSpPr/>
          <p:nvPr/>
        </p:nvSpPr>
        <p:spPr>
          <a:xfrm>
            <a:off x="4846320" y="1371600"/>
            <a:ext cx="6766560" cy="777240"/>
          </a:xfrm>
          <a:prstGeom prst="roundRect">
            <a:avLst>
              <a:gd name="adj" fmla="val 14118"/>
            </a:avLst>
          </a:prstGeom>
          <a:solidFill>
            <a:schemeClr val="bg2"/>
          </a:solidFill>
          <a:ln/>
        </p:spPr>
      </p:sp>
      <p:sp>
        <p:nvSpPr>
          <p:cNvPr id="7" name="Text 5"/>
          <p:cNvSpPr txBox="1"/>
          <p:nvPr/>
        </p:nvSpPr>
        <p:spPr>
          <a:xfrm>
            <a:off x="5074920" y="1463040"/>
            <a:ext cx="6400800" cy="594360"/>
          </a:xfrm>
          <a:prstGeom prst="rect">
            <a:avLst/>
          </a:prstGeom>
          <a:noFill/>
          <a:ln/>
        </p:spPr>
        <p:txBody>
          <a:bodyPr wrap="square" lIns="0" tIns="0" rIns="0" bIns="0" rtlCol="0" anchor="ctr"/>
          <a:lstStyle/>
          <a:p>
            <a:pPr indent="0" marL="0">
              <a:buNone/>
            </a:pPr>
            <a:r>
              <a:rPr lang="en-US" sz="1400" dirty="0">
                <a:solidFill>
                  <a:schemeClr val="tx1"/>
                </a:solidFill>
              </a:rPr>
              <a:t>No send permission at all. CRM writes only through one-tap approval, logged with who and when.</a:t>
            </a:r>
            <a:endParaRPr lang="en-US" sz="1400" dirty="0"/>
          </a:p>
        </p:txBody>
      </p:sp>
      <p:sp>
        <p:nvSpPr>
          <p:cNvPr id="8" name="Shape 6"/>
          <p:cNvSpPr/>
          <p:nvPr/>
        </p:nvSpPr>
        <p:spPr>
          <a:xfrm>
            <a:off x="548640" y="2267712"/>
            <a:ext cx="3931920" cy="777240"/>
          </a:xfrm>
          <a:prstGeom prst="roundRect">
            <a:avLst>
              <a:gd name="adj" fmla="val 14118"/>
            </a:avLst>
          </a:prstGeom>
          <a:solidFill>
            <a:srgbClr val="FBEDEC"/>
          </a:solidFill>
          <a:ln/>
        </p:spPr>
      </p:sp>
      <p:sp>
        <p:nvSpPr>
          <p:cNvPr id="9" name="Text 7"/>
          <p:cNvSpPr txBox="1"/>
          <p:nvPr/>
        </p:nvSpPr>
        <p:spPr>
          <a:xfrm>
            <a:off x="777240" y="2359152"/>
            <a:ext cx="3566160" cy="594360"/>
          </a:xfrm>
          <a:prstGeom prst="rect">
            <a:avLst/>
          </a:prstGeom>
          <a:noFill/>
          <a:ln/>
        </p:spPr>
        <p:txBody>
          <a:bodyPr wrap="square" lIns="0" tIns="0" rIns="0" bIns="0" rtlCol="0" anchor="ctr"/>
          <a:lstStyle/>
          <a:p>
            <a:pPr indent="0" marL="0">
              <a:buNone/>
            </a:pPr>
            <a:r>
              <a:rPr lang="en-US" sz="1400" b="1" dirty="0">
                <a:solidFill>
                  <a:schemeClr val="accent3"/>
                </a:solidFill>
              </a:rPr>
              <a:t>An invented price or date in a draft</a:t>
            </a:r>
            <a:endParaRPr lang="en-US" sz="1400" dirty="0"/>
          </a:p>
        </p:txBody>
      </p:sp>
      <p:sp>
        <p:nvSpPr>
          <p:cNvPr id="10" name="Shape 8"/>
          <p:cNvSpPr/>
          <p:nvPr/>
        </p:nvSpPr>
        <p:spPr>
          <a:xfrm>
            <a:off x="4572000" y="2523744"/>
            <a:ext cx="146304" cy="274320"/>
          </a:xfrm>
          <a:prstGeom prst="chevron">
            <a:avLst/>
          </a:prstGeom>
          <a:solidFill>
            <a:schemeClr val="accent4"/>
          </a:solidFill>
          <a:ln/>
        </p:spPr>
      </p:sp>
      <p:sp>
        <p:nvSpPr>
          <p:cNvPr id="11" name="Shape 9"/>
          <p:cNvSpPr/>
          <p:nvPr/>
        </p:nvSpPr>
        <p:spPr>
          <a:xfrm>
            <a:off x="4846320" y="2267712"/>
            <a:ext cx="6766560" cy="777240"/>
          </a:xfrm>
          <a:prstGeom prst="roundRect">
            <a:avLst>
              <a:gd name="adj" fmla="val 14118"/>
            </a:avLst>
          </a:prstGeom>
          <a:solidFill>
            <a:schemeClr val="bg2"/>
          </a:solidFill>
          <a:ln/>
        </p:spPr>
      </p:sp>
      <p:sp>
        <p:nvSpPr>
          <p:cNvPr id="12" name="Text 10"/>
          <p:cNvSpPr txBox="1"/>
          <p:nvPr/>
        </p:nvSpPr>
        <p:spPr>
          <a:xfrm>
            <a:off x="5074920" y="2359152"/>
            <a:ext cx="6400800" cy="594360"/>
          </a:xfrm>
          <a:prstGeom prst="rect">
            <a:avLst/>
          </a:prstGeom>
          <a:noFill/>
          <a:ln/>
        </p:spPr>
        <p:txBody>
          <a:bodyPr wrap="square" lIns="0" tIns="0" rIns="0" bIns="0" rtlCol="0" anchor="ctr"/>
          <a:lstStyle/>
          <a:p>
            <a:pPr indent="0" marL="0">
              <a:buNone/>
            </a:pPr>
            <a:r>
              <a:rPr lang="en-US" sz="1400" dirty="0">
                <a:solidFill>
                  <a:schemeClr val="tx1"/>
                </a:solidFill>
              </a:rPr>
              <a:t>Unknown facts become [blank]. A safety check withholds drafts with unsupported amounts. In live testing it caught a draft confirming a $40k estimate.</a:t>
            </a:r>
            <a:endParaRPr lang="en-US" sz="1400" dirty="0"/>
          </a:p>
        </p:txBody>
      </p:sp>
      <p:sp>
        <p:nvSpPr>
          <p:cNvPr id="13" name="Shape 11"/>
          <p:cNvSpPr/>
          <p:nvPr/>
        </p:nvSpPr>
        <p:spPr>
          <a:xfrm>
            <a:off x="548640" y="3163824"/>
            <a:ext cx="3931920" cy="777240"/>
          </a:xfrm>
          <a:prstGeom prst="roundRect">
            <a:avLst>
              <a:gd name="adj" fmla="val 14118"/>
            </a:avLst>
          </a:prstGeom>
          <a:solidFill>
            <a:srgbClr val="FBEDEC"/>
          </a:solidFill>
          <a:ln/>
        </p:spPr>
      </p:sp>
      <p:sp>
        <p:nvSpPr>
          <p:cNvPr id="14" name="Text 12"/>
          <p:cNvSpPr txBox="1"/>
          <p:nvPr/>
        </p:nvSpPr>
        <p:spPr>
          <a:xfrm>
            <a:off x="777240" y="3255264"/>
            <a:ext cx="3566160" cy="594360"/>
          </a:xfrm>
          <a:prstGeom prst="rect">
            <a:avLst/>
          </a:prstGeom>
          <a:noFill/>
          <a:ln/>
        </p:spPr>
        <p:txBody>
          <a:bodyPr wrap="square" lIns="0" tIns="0" rIns="0" bIns="0" rtlCol="0" anchor="ctr"/>
          <a:lstStyle/>
          <a:p>
            <a:pPr indent="0" marL="0">
              <a:buNone/>
            </a:pPr>
            <a:r>
              <a:rPr lang="en-US" sz="1400" b="1" dirty="0">
                <a:solidFill>
                  <a:schemeClr val="accent3"/>
                </a:solidFill>
              </a:rPr>
              <a:t>Two clients' facts mixed up</a:t>
            </a:r>
            <a:endParaRPr lang="en-US" sz="1400" dirty="0"/>
          </a:p>
        </p:txBody>
      </p:sp>
      <p:sp>
        <p:nvSpPr>
          <p:cNvPr id="15" name="Shape 13"/>
          <p:cNvSpPr/>
          <p:nvPr/>
        </p:nvSpPr>
        <p:spPr>
          <a:xfrm>
            <a:off x="4572000" y="3419856"/>
            <a:ext cx="146304" cy="274320"/>
          </a:xfrm>
          <a:prstGeom prst="chevron">
            <a:avLst/>
          </a:prstGeom>
          <a:solidFill>
            <a:schemeClr val="accent4"/>
          </a:solidFill>
          <a:ln/>
        </p:spPr>
      </p:sp>
      <p:sp>
        <p:nvSpPr>
          <p:cNvPr id="16" name="Shape 14"/>
          <p:cNvSpPr/>
          <p:nvPr/>
        </p:nvSpPr>
        <p:spPr>
          <a:xfrm>
            <a:off x="4846320" y="3163824"/>
            <a:ext cx="6766560" cy="777240"/>
          </a:xfrm>
          <a:prstGeom prst="roundRect">
            <a:avLst>
              <a:gd name="adj" fmla="val 14118"/>
            </a:avLst>
          </a:prstGeom>
          <a:solidFill>
            <a:schemeClr val="bg2"/>
          </a:solidFill>
          <a:ln/>
        </p:spPr>
      </p:sp>
      <p:sp>
        <p:nvSpPr>
          <p:cNvPr id="17" name="Text 15"/>
          <p:cNvSpPr txBox="1"/>
          <p:nvPr/>
        </p:nvSpPr>
        <p:spPr>
          <a:xfrm>
            <a:off x="5074920" y="3255264"/>
            <a:ext cx="6400800" cy="594360"/>
          </a:xfrm>
          <a:prstGeom prst="rect">
            <a:avLst/>
          </a:prstGeom>
          <a:noFill/>
          <a:ln/>
        </p:spPr>
        <p:txBody>
          <a:bodyPr wrap="square" lIns="0" tIns="0" rIns="0" bIns="0" rtlCol="0" anchor="ctr"/>
          <a:lstStyle/>
          <a:p>
            <a:pPr indent="0" marL="0">
              <a:buNone/>
            </a:pPr>
            <a:r>
              <a:rPr lang="en-US" sz="1400" dirty="0">
                <a:solidFill>
                  <a:schemeClr val="tx1"/>
                </a:solidFill>
              </a:rPr>
              <a:t>Confidence threshold with an Unsure queue; never auto-merge; drafts see one account's records only.</a:t>
            </a:r>
            <a:endParaRPr lang="en-US" sz="1400" dirty="0"/>
          </a:p>
        </p:txBody>
      </p:sp>
      <p:sp>
        <p:nvSpPr>
          <p:cNvPr id="18" name="Shape 16"/>
          <p:cNvSpPr/>
          <p:nvPr/>
        </p:nvSpPr>
        <p:spPr>
          <a:xfrm>
            <a:off x="548640" y="4059936"/>
            <a:ext cx="3931920" cy="777240"/>
          </a:xfrm>
          <a:prstGeom prst="roundRect">
            <a:avLst>
              <a:gd name="adj" fmla="val 14118"/>
            </a:avLst>
          </a:prstGeom>
          <a:solidFill>
            <a:srgbClr val="FBEDEC"/>
          </a:solidFill>
          <a:ln/>
        </p:spPr>
      </p:sp>
      <p:sp>
        <p:nvSpPr>
          <p:cNvPr id="19" name="Text 17"/>
          <p:cNvSpPr txBox="1"/>
          <p:nvPr/>
        </p:nvSpPr>
        <p:spPr>
          <a:xfrm>
            <a:off x="777240" y="4151376"/>
            <a:ext cx="3566160" cy="594360"/>
          </a:xfrm>
          <a:prstGeom prst="rect">
            <a:avLst/>
          </a:prstGeom>
          <a:noFill/>
          <a:ln/>
        </p:spPr>
        <p:txBody>
          <a:bodyPr wrap="square" lIns="0" tIns="0" rIns="0" bIns="0" rtlCol="0" anchor="ctr"/>
          <a:lstStyle/>
          <a:p>
            <a:pPr indent="0" marL="0">
              <a:buNone/>
            </a:pPr>
            <a:r>
              <a:rPr lang="en-US" sz="1400" b="1" dirty="0">
                <a:solidFill>
                  <a:schemeClr val="accent3"/>
                </a:solidFill>
              </a:rPr>
              <a:t>AI answers a restricted request</a:t>
            </a:r>
            <a:endParaRPr lang="en-US" sz="1400" dirty="0"/>
          </a:p>
        </p:txBody>
      </p:sp>
      <p:sp>
        <p:nvSpPr>
          <p:cNvPr id="20" name="Shape 18"/>
          <p:cNvSpPr/>
          <p:nvPr/>
        </p:nvSpPr>
        <p:spPr>
          <a:xfrm>
            <a:off x="4572000" y="4315968"/>
            <a:ext cx="146304" cy="274320"/>
          </a:xfrm>
          <a:prstGeom prst="chevron">
            <a:avLst/>
          </a:prstGeom>
          <a:solidFill>
            <a:schemeClr val="accent4"/>
          </a:solidFill>
          <a:ln/>
        </p:spPr>
      </p:sp>
      <p:sp>
        <p:nvSpPr>
          <p:cNvPr id="21" name="Shape 19"/>
          <p:cNvSpPr/>
          <p:nvPr/>
        </p:nvSpPr>
        <p:spPr>
          <a:xfrm>
            <a:off x="4846320" y="4059936"/>
            <a:ext cx="6766560" cy="777240"/>
          </a:xfrm>
          <a:prstGeom prst="roundRect">
            <a:avLst>
              <a:gd name="adj" fmla="val 14118"/>
            </a:avLst>
          </a:prstGeom>
          <a:solidFill>
            <a:schemeClr val="bg2"/>
          </a:solidFill>
          <a:ln/>
        </p:spPr>
      </p:sp>
      <p:sp>
        <p:nvSpPr>
          <p:cNvPr id="22" name="Text 20"/>
          <p:cNvSpPr txBox="1"/>
          <p:nvPr/>
        </p:nvSpPr>
        <p:spPr>
          <a:xfrm>
            <a:off x="5074920" y="4151376"/>
            <a:ext cx="6400800" cy="594360"/>
          </a:xfrm>
          <a:prstGeom prst="rect">
            <a:avLst/>
          </a:prstGeom>
          <a:noFill/>
          <a:ln/>
        </p:spPr>
        <p:txBody>
          <a:bodyPr wrap="square" lIns="0" tIns="0" rIns="0" bIns="0" rtlCol="0" anchor="ctr"/>
          <a:lstStyle/>
          <a:p>
            <a:pPr indent="0" marL="0">
              <a:buNone/>
            </a:pPr>
            <a:r>
              <a:rPr lang="en-US" sz="1400" dirty="0">
                <a:solidFill>
                  <a:schemeClr val="tx1"/>
                </a:solidFill>
              </a:rPr>
              <a:t>SOWs, pricing, contracts and security questionnaires are routed to a person with a due date, never drafted.</a:t>
            </a:r>
            <a:endParaRPr lang="en-US" sz="1400" dirty="0"/>
          </a:p>
        </p:txBody>
      </p:sp>
      <p:sp>
        <p:nvSpPr>
          <p:cNvPr id="23" name="Shape 21"/>
          <p:cNvSpPr/>
          <p:nvPr/>
        </p:nvSpPr>
        <p:spPr>
          <a:xfrm>
            <a:off x="548640" y="4956048"/>
            <a:ext cx="3931920" cy="777240"/>
          </a:xfrm>
          <a:prstGeom prst="roundRect">
            <a:avLst>
              <a:gd name="adj" fmla="val 14118"/>
            </a:avLst>
          </a:prstGeom>
          <a:solidFill>
            <a:srgbClr val="FBEDEC"/>
          </a:solidFill>
          <a:ln/>
        </p:spPr>
      </p:sp>
      <p:sp>
        <p:nvSpPr>
          <p:cNvPr id="24" name="Text 22"/>
          <p:cNvSpPr txBox="1"/>
          <p:nvPr/>
        </p:nvSpPr>
        <p:spPr>
          <a:xfrm>
            <a:off x="777240" y="5047488"/>
            <a:ext cx="3566160" cy="594360"/>
          </a:xfrm>
          <a:prstGeom prst="rect">
            <a:avLst/>
          </a:prstGeom>
          <a:noFill/>
          <a:ln/>
        </p:spPr>
        <p:txBody>
          <a:bodyPr wrap="square" lIns="0" tIns="0" rIns="0" bIns="0" rtlCol="0" anchor="ctr"/>
          <a:lstStyle/>
          <a:p>
            <a:pPr indent="0" marL="0">
              <a:buNone/>
            </a:pPr>
            <a:r>
              <a:rPr lang="en-US" sz="1400" b="1" dirty="0">
                <a:solidFill>
                  <a:schemeClr val="accent3"/>
                </a:solidFill>
              </a:rPr>
              <a:t>The brief gets ignored like the CRM</a:t>
            </a:r>
            <a:endParaRPr lang="en-US" sz="1400" dirty="0"/>
          </a:p>
        </p:txBody>
      </p:sp>
      <p:sp>
        <p:nvSpPr>
          <p:cNvPr id="25" name="Shape 23"/>
          <p:cNvSpPr/>
          <p:nvPr/>
        </p:nvSpPr>
        <p:spPr>
          <a:xfrm>
            <a:off x="4572000" y="5212080"/>
            <a:ext cx="146304" cy="274320"/>
          </a:xfrm>
          <a:prstGeom prst="chevron">
            <a:avLst/>
          </a:prstGeom>
          <a:solidFill>
            <a:schemeClr val="accent4"/>
          </a:solidFill>
          <a:ln/>
        </p:spPr>
      </p:sp>
      <p:sp>
        <p:nvSpPr>
          <p:cNvPr id="26" name="Shape 24"/>
          <p:cNvSpPr/>
          <p:nvPr/>
        </p:nvSpPr>
        <p:spPr>
          <a:xfrm>
            <a:off x="4846320" y="4956048"/>
            <a:ext cx="6766560" cy="777240"/>
          </a:xfrm>
          <a:prstGeom prst="roundRect">
            <a:avLst>
              <a:gd name="adj" fmla="val 14118"/>
            </a:avLst>
          </a:prstGeom>
          <a:solidFill>
            <a:schemeClr val="bg2"/>
          </a:solidFill>
          <a:ln/>
        </p:spPr>
      </p:sp>
      <p:sp>
        <p:nvSpPr>
          <p:cNvPr id="27" name="Text 25"/>
          <p:cNvSpPr txBox="1"/>
          <p:nvPr/>
        </p:nvSpPr>
        <p:spPr>
          <a:xfrm>
            <a:off x="5074920" y="5047488"/>
            <a:ext cx="6400800" cy="594360"/>
          </a:xfrm>
          <a:prstGeom prst="rect">
            <a:avLst/>
          </a:prstGeom>
          <a:noFill/>
          <a:ln/>
        </p:spPr>
        <p:txBody>
          <a:bodyPr wrap="square" lIns="0" tIns="0" rIns="0" bIns="0" rtlCol="0" anchor="ctr"/>
          <a:lstStyle/>
          <a:p>
            <a:pPr indent="0" marL="0">
              <a:buNone/>
            </a:pPr>
            <a:r>
              <a:rPr lang="en-US" sz="1400" dirty="0">
                <a:solidFill>
                  <a:schemeClr val="tx1"/>
                </a:solidFill>
              </a:rPr>
              <a:t>Capped at 10, ranked by money at risk, with snooze and a tracked dismiss rate.</a:t>
            </a:r>
            <a:endParaRPr lang="en-US" sz="1400" dirty="0"/>
          </a:p>
        </p:txBody>
      </p:sp>
      <p:sp>
        <p:nvSpPr>
          <p:cNvPr id="28" name="Text 26"/>
          <p:cNvSpPr txBox="1"/>
          <p:nvPr/>
        </p:nvSpPr>
        <p:spPr>
          <a:xfrm>
            <a:off x="548640" y="5897880"/>
            <a:ext cx="11064240" cy="365760"/>
          </a:xfrm>
          <a:prstGeom prst="rect">
            <a:avLst/>
          </a:prstGeom>
          <a:noFill/>
          <a:ln/>
        </p:spPr>
        <p:txBody>
          <a:bodyPr wrap="square" lIns="0" tIns="0" rIns="0" bIns="0" rtlCol="0" anchor="t"/>
          <a:lstStyle/>
          <a:p>
            <a:pPr indent="0" marL="0">
              <a:buNone/>
            </a:pPr>
            <a:r>
              <a:rPr lang="en-US" sz="1300" i="1" dirty="0">
                <a:solidFill>
                  <a:schemeClr val="tx2"/>
                </a:solidFill>
              </a:rPr>
              <a:t>Kill switch: any unapproved send or write, any cross-client leak, or any invented fact in an approved output pauses rollout immediately.</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Rollout earns trust in stages</a:t>
            </a:r>
            <a:endParaRPr lang="en-US" sz="3000" dirty="0"/>
          </a:p>
        </p:txBody>
      </p:sp>
      <p:sp>
        <p:nvSpPr>
          <p:cNvPr id="3" name="Shape 1"/>
          <p:cNvSpPr/>
          <p:nvPr/>
        </p:nvSpPr>
        <p:spPr>
          <a:xfrm>
            <a:off x="822960" y="1828800"/>
            <a:ext cx="10515600" cy="0"/>
          </a:xfrm>
          <a:prstGeom prst="line">
            <a:avLst/>
          </a:prstGeom>
          <a:noFill/>
          <a:ln w="25400">
            <a:solidFill>
              <a:schemeClr val="accent4"/>
            </a:solidFill>
            <a:prstDash val="solid"/>
          </a:ln>
        </p:spPr>
      </p:sp>
      <p:sp>
        <p:nvSpPr>
          <p:cNvPr id="4" name="Shape 2"/>
          <p:cNvSpPr/>
          <p:nvPr/>
        </p:nvSpPr>
        <p:spPr>
          <a:xfrm>
            <a:off x="731520" y="1664208"/>
            <a:ext cx="329184" cy="329184"/>
          </a:xfrm>
          <a:prstGeom prst="ellipse">
            <a:avLst/>
          </a:prstGeom>
          <a:solidFill>
            <a:schemeClr val="accent1"/>
          </a:solidFill>
          <a:ln w="25400">
            <a:solidFill>
              <a:schemeClr val="bg1"/>
            </a:solidFill>
            <a:prstDash val="solid"/>
          </a:ln>
        </p:spPr>
      </p:sp>
      <p:sp>
        <p:nvSpPr>
          <p:cNvPr id="5" name="Shape 3"/>
          <p:cNvSpPr/>
          <p:nvPr/>
        </p:nvSpPr>
        <p:spPr>
          <a:xfrm>
            <a:off x="548640" y="2194560"/>
            <a:ext cx="2606040" cy="2743200"/>
          </a:xfrm>
          <a:prstGeom prst="roundRect">
            <a:avLst>
              <a:gd name="adj" fmla="val 4211"/>
            </a:avLst>
          </a:prstGeom>
          <a:solidFill>
            <a:schemeClr val="bg2"/>
          </a:solidFill>
          <a:ln/>
        </p:spPr>
      </p:sp>
      <p:sp>
        <p:nvSpPr>
          <p:cNvPr id="6" name="Text 4"/>
          <p:cNvSpPr txBox="1"/>
          <p:nvPr/>
        </p:nvSpPr>
        <p:spPr>
          <a:xfrm>
            <a:off x="777240" y="2377440"/>
            <a:ext cx="2148840" cy="365760"/>
          </a:xfrm>
          <a:prstGeom prst="rect">
            <a:avLst/>
          </a:prstGeom>
          <a:noFill/>
          <a:ln/>
        </p:spPr>
        <p:txBody>
          <a:bodyPr wrap="square" lIns="0" tIns="0" rIns="0" bIns="0" rtlCol="0" anchor="t"/>
          <a:lstStyle/>
          <a:p>
            <a:pPr indent="0" marL="0">
              <a:buNone/>
            </a:pPr>
            <a:r>
              <a:rPr lang="en-US" sz="1400" b="1" dirty="0">
                <a:solidFill>
                  <a:schemeClr val="accent1"/>
                </a:solidFill>
              </a:rPr>
              <a:t>31 Jul</a:t>
            </a:r>
            <a:endParaRPr lang="en-US" sz="1400" dirty="0"/>
          </a:p>
        </p:txBody>
      </p:sp>
      <p:sp>
        <p:nvSpPr>
          <p:cNvPr id="7" name="Text 5"/>
          <p:cNvSpPr txBox="1"/>
          <p:nvPr/>
        </p:nvSpPr>
        <p:spPr>
          <a:xfrm>
            <a:off x="777240" y="2743200"/>
            <a:ext cx="2148840" cy="685800"/>
          </a:xfrm>
          <a:prstGeom prst="rect">
            <a:avLst/>
          </a:prstGeom>
          <a:noFill/>
          <a:ln/>
        </p:spPr>
        <p:txBody>
          <a:bodyPr wrap="square" lIns="0" tIns="0" rIns="0" bIns="0" rtlCol="0" anchor="t"/>
          <a:lstStyle/>
          <a:p>
            <a:pPr indent="0" marL="0">
              <a:buNone/>
            </a:pPr>
            <a:r>
              <a:rPr lang="en-US" sz="1800" b="1" dirty="0">
                <a:solidFill>
                  <a:schemeClr val="tx2"/>
                </a:solidFill>
              </a:rPr>
              <a:t>Alpha on the dataset</a:t>
            </a:r>
            <a:endParaRPr lang="en-US" sz="1800" dirty="0"/>
          </a:p>
        </p:txBody>
      </p:sp>
      <p:sp>
        <p:nvSpPr>
          <p:cNvPr id="8" name="Text 6"/>
          <p:cNvSpPr txBox="1"/>
          <p:nvPr/>
        </p:nvSpPr>
        <p:spPr>
          <a:xfrm>
            <a:off x="777240" y="3429000"/>
            <a:ext cx="2148840" cy="1097280"/>
          </a:xfrm>
          <a:prstGeom prst="rect">
            <a:avLst/>
          </a:prstGeom>
          <a:noFill/>
          <a:ln/>
        </p:spPr>
        <p:txBody>
          <a:bodyPr wrap="square" lIns="0" tIns="0" rIns="0" bIns="0" rtlCol="0" anchor="t"/>
          <a:lstStyle/>
          <a:p>
            <a:pPr indent="0" marL="0">
              <a:buNone/>
            </a:pPr>
            <a:r>
              <a:rPr lang="en-US" sz="1400" dirty="0">
                <a:solidFill>
                  <a:schemeClr val="tx1"/>
                </a:solidFill>
              </a:rPr>
              <a:t>Gate: every eval passes</a:t>
            </a:r>
            <a:endParaRPr lang="en-US" sz="1400" dirty="0"/>
          </a:p>
        </p:txBody>
      </p:sp>
      <p:sp>
        <p:nvSpPr>
          <p:cNvPr id="9" name="Text 7"/>
          <p:cNvSpPr txBox="1"/>
          <p:nvPr/>
        </p:nvSpPr>
        <p:spPr>
          <a:xfrm>
            <a:off x="777240" y="4480560"/>
            <a:ext cx="2148840" cy="320040"/>
          </a:xfrm>
          <a:prstGeom prst="rect">
            <a:avLst/>
          </a:prstGeom>
          <a:noFill/>
          <a:ln/>
        </p:spPr>
        <p:txBody>
          <a:bodyPr wrap="square" lIns="0" tIns="0" rIns="0" bIns="0" rtlCol="0" anchor="t"/>
          <a:lstStyle/>
          <a:p>
            <a:pPr indent="0" marL="0">
              <a:buNone/>
            </a:pPr>
            <a:r>
              <a:rPr lang="en-US" sz="1300" b="1" dirty="0">
                <a:solidFill>
                  <a:schemeClr val="accent1"/>
                </a:solidFill>
              </a:rPr>
              <a:t>Done: live prototype</a:t>
            </a:r>
            <a:endParaRPr lang="en-US" sz="1300" dirty="0"/>
          </a:p>
        </p:txBody>
      </p:sp>
      <p:sp>
        <p:nvSpPr>
          <p:cNvPr id="10" name="Shape 8"/>
          <p:cNvSpPr/>
          <p:nvPr/>
        </p:nvSpPr>
        <p:spPr>
          <a:xfrm>
            <a:off x="3547872" y="1664208"/>
            <a:ext cx="329184" cy="329184"/>
          </a:xfrm>
          <a:prstGeom prst="ellipse">
            <a:avLst/>
          </a:prstGeom>
          <a:solidFill>
            <a:schemeClr val="accent4"/>
          </a:solidFill>
          <a:ln w="25400">
            <a:solidFill>
              <a:schemeClr val="bg1"/>
            </a:solidFill>
            <a:prstDash val="solid"/>
          </a:ln>
        </p:spPr>
      </p:sp>
      <p:sp>
        <p:nvSpPr>
          <p:cNvPr id="11" name="Shape 9"/>
          <p:cNvSpPr/>
          <p:nvPr/>
        </p:nvSpPr>
        <p:spPr>
          <a:xfrm>
            <a:off x="3364992" y="2194560"/>
            <a:ext cx="2606040" cy="2743200"/>
          </a:xfrm>
          <a:prstGeom prst="roundRect">
            <a:avLst>
              <a:gd name="adj" fmla="val 4211"/>
            </a:avLst>
          </a:prstGeom>
          <a:solidFill>
            <a:schemeClr val="bg2"/>
          </a:solidFill>
          <a:ln/>
        </p:spPr>
      </p:sp>
      <p:sp>
        <p:nvSpPr>
          <p:cNvPr id="12" name="Text 10"/>
          <p:cNvSpPr txBox="1"/>
          <p:nvPr/>
        </p:nvSpPr>
        <p:spPr>
          <a:xfrm>
            <a:off x="3593592" y="2377440"/>
            <a:ext cx="2148840" cy="365760"/>
          </a:xfrm>
          <a:prstGeom prst="rect">
            <a:avLst/>
          </a:prstGeom>
          <a:noFill/>
          <a:ln/>
        </p:spPr>
        <p:txBody>
          <a:bodyPr wrap="square" lIns="0" tIns="0" rIns="0" bIns="0" rtlCol="0" anchor="t"/>
          <a:lstStyle/>
          <a:p>
            <a:pPr indent="0" marL="0">
              <a:buNone/>
            </a:pPr>
            <a:r>
              <a:rPr lang="en-US" sz="1400" b="1" dirty="0">
                <a:solidFill>
                  <a:schemeClr val="accent4"/>
                </a:solidFill>
              </a:rPr>
              <a:t>3 to 14 Aug</a:t>
            </a:r>
            <a:endParaRPr lang="en-US" sz="1400" dirty="0"/>
          </a:p>
        </p:txBody>
      </p:sp>
      <p:sp>
        <p:nvSpPr>
          <p:cNvPr id="13" name="Text 11"/>
          <p:cNvSpPr txBox="1"/>
          <p:nvPr/>
        </p:nvSpPr>
        <p:spPr>
          <a:xfrm>
            <a:off x="3593592" y="2743200"/>
            <a:ext cx="2148840" cy="685800"/>
          </a:xfrm>
          <a:prstGeom prst="rect">
            <a:avLst/>
          </a:prstGeom>
          <a:noFill/>
          <a:ln/>
        </p:spPr>
        <p:txBody>
          <a:bodyPr wrap="square" lIns="0" tIns="0" rIns="0" bIns="0" rtlCol="0" anchor="t"/>
          <a:lstStyle/>
          <a:p>
            <a:pPr indent="0" marL="0">
              <a:buNone/>
            </a:pPr>
            <a:r>
              <a:rPr lang="en-US" sz="1800" b="1" dirty="0">
                <a:solidFill>
                  <a:schemeClr val="tx2"/>
                </a:solidFill>
              </a:rPr>
              <a:t>Closed beta: Bhavin</a:t>
            </a:r>
            <a:endParaRPr lang="en-US" sz="1800" dirty="0"/>
          </a:p>
        </p:txBody>
      </p:sp>
      <p:sp>
        <p:nvSpPr>
          <p:cNvPr id="14" name="Text 12"/>
          <p:cNvSpPr txBox="1"/>
          <p:nvPr/>
        </p:nvSpPr>
        <p:spPr>
          <a:xfrm>
            <a:off x="3593592" y="3429000"/>
            <a:ext cx="2148840" cy="1097280"/>
          </a:xfrm>
          <a:prstGeom prst="rect">
            <a:avLst/>
          </a:prstGeom>
          <a:noFill/>
          <a:ln/>
        </p:spPr>
        <p:txBody>
          <a:bodyPr wrap="square" lIns="0" tIns="0" rIns="0" bIns="0" rtlCol="0" anchor="t"/>
          <a:lstStyle/>
          <a:p>
            <a:pPr indent="0" marL="0">
              <a:buNone/>
            </a:pPr>
            <a:r>
              <a:rPr lang="en-US" sz="1400" dirty="0">
                <a:solidFill>
                  <a:schemeClr val="tx1"/>
                </a:solidFill>
              </a:rPr>
              <a:t>Read-only shadow mode. Gate: recall 90%+, precision 85%+, 0 breaches</a:t>
            </a:r>
            <a:endParaRPr lang="en-US" sz="1400" dirty="0"/>
          </a:p>
        </p:txBody>
      </p:sp>
      <p:sp>
        <p:nvSpPr>
          <p:cNvPr id="15" name="Shape 13"/>
          <p:cNvSpPr/>
          <p:nvPr/>
        </p:nvSpPr>
        <p:spPr>
          <a:xfrm>
            <a:off x="6364224" y="1664208"/>
            <a:ext cx="329184" cy="329184"/>
          </a:xfrm>
          <a:prstGeom prst="ellipse">
            <a:avLst/>
          </a:prstGeom>
          <a:solidFill>
            <a:schemeClr val="accent4"/>
          </a:solidFill>
          <a:ln w="25400">
            <a:solidFill>
              <a:schemeClr val="bg1"/>
            </a:solidFill>
            <a:prstDash val="solid"/>
          </a:ln>
        </p:spPr>
      </p:sp>
      <p:sp>
        <p:nvSpPr>
          <p:cNvPr id="16" name="Shape 14"/>
          <p:cNvSpPr/>
          <p:nvPr/>
        </p:nvSpPr>
        <p:spPr>
          <a:xfrm>
            <a:off x="6181344" y="2194560"/>
            <a:ext cx="2606040" cy="2743200"/>
          </a:xfrm>
          <a:prstGeom prst="roundRect">
            <a:avLst>
              <a:gd name="adj" fmla="val 4211"/>
            </a:avLst>
          </a:prstGeom>
          <a:solidFill>
            <a:schemeClr val="bg2"/>
          </a:solidFill>
          <a:ln/>
        </p:spPr>
      </p:sp>
      <p:sp>
        <p:nvSpPr>
          <p:cNvPr id="17" name="Text 15"/>
          <p:cNvSpPr txBox="1"/>
          <p:nvPr/>
        </p:nvSpPr>
        <p:spPr>
          <a:xfrm>
            <a:off x="6409944" y="2377440"/>
            <a:ext cx="2148840" cy="365760"/>
          </a:xfrm>
          <a:prstGeom prst="rect">
            <a:avLst/>
          </a:prstGeom>
          <a:noFill/>
          <a:ln/>
        </p:spPr>
        <p:txBody>
          <a:bodyPr wrap="square" lIns="0" tIns="0" rIns="0" bIns="0" rtlCol="0" anchor="t"/>
          <a:lstStyle/>
          <a:p>
            <a:pPr indent="0" marL="0">
              <a:buNone/>
            </a:pPr>
            <a:r>
              <a:rPr lang="en-US" sz="1400" b="1" dirty="0">
                <a:solidFill>
                  <a:schemeClr val="accent4"/>
                </a:solidFill>
              </a:rPr>
              <a:t>17 Aug to 11 Sep</a:t>
            </a:r>
            <a:endParaRPr lang="en-US" sz="1400" dirty="0"/>
          </a:p>
        </p:txBody>
      </p:sp>
      <p:sp>
        <p:nvSpPr>
          <p:cNvPr id="18" name="Text 16"/>
          <p:cNvSpPr txBox="1"/>
          <p:nvPr/>
        </p:nvSpPr>
        <p:spPr>
          <a:xfrm>
            <a:off x="6409944" y="2743200"/>
            <a:ext cx="2148840" cy="685800"/>
          </a:xfrm>
          <a:prstGeom prst="rect">
            <a:avLst/>
          </a:prstGeom>
          <a:noFill/>
          <a:ln/>
        </p:spPr>
        <p:txBody>
          <a:bodyPr wrap="square" lIns="0" tIns="0" rIns="0" bIns="0" rtlCol="0" anchor="t"/>
          <a:lstStyle/>
          <a:p>
            <a:pPr indent="0" marL="0">
              <a:buNone/>
            </a:pPr>
            <a:r>
              <a:rPr lang="en-US" sz="1800" b="1" dirty="0">
                <a:solidFill>
                  <a:schemeClr val="tx2"/>
                </a:solidFill>
              </a:rPr>
              <a:t>All four sellers</a:t>
            </a:r>
            <a:endParaRPr lang="en-US" sz="1800" dirty="0"/>
          </a:p>
        </p:txBody>
      </p:sp>
      <p:sp>
        <p:nvSpPr>
          <p:cNvPr id="19" name="Text 17"/>
          <p:cNvSpPr txBox="1"/>
          <p:nvPr/>
        </p:nvSpPr>
        <p:spPr>
          <a:xfrm>
            <a:off x="6409944" y="3429000"/>
            <a:ext cx="2148840" cy="1097280"/>
          </a:xfrm>
          <a:prstGeom prst="rect">
            <a:avLst/>
          </a:prstGeom>
          <a:noFill/>
          <a:ln/>
        </p:spPr>
        <p:txBody>
          <a:bodyPr wrap="square" lIns="0" tIns="0" rIns="0" bIns="0" rtlCol="0" anchor="t"/>
          <a:lstStyle/>
          <a:p>
            <a:pPr indent="0" marL="0">
              <a:buNone/>
            </a:pPr>
            <a:r>
              <a:rPr lang="en-US" sz="1400" dirty="0">
                <a:solidFill>
                  <a:schemeClr val="tx1"/>
                </a:solidFill>
              </a:rPr>
              <a:t>Approved CRM writes on. Gate: North Star 80%+ two weeks running</a:t>
            </a:r>
            <a:endParaRPr lang="en-US" sz="1400" dirty="0"/>
          </a:p>
        </p:txBody>
      </p:sp>
      <p:sp>
        <p:nvSpPr>
          <p:cNvPr id="20" name="Shape 18"/>
          <p:cNvSpPr/>
          <p:nvPr/>
        </p:nvSpPr>
        <p:spPr>
          <a:xfrm>
            <a:off x="9180576" y="1664208"/>
            <a:ext cx="329184" cy="329184"/>
          </a:xfrm>
          <a:prstGeom prst="ellipse">
            <a:avLst/>
          </a:prstGeom>
          <a:solidFill>
            <a:schemeClr val="accent4"/>
          </a:solidFill>
          <a:ln w="25400">
            <a:solidFill>
              <a:schemeClr val="bg1"/>
            </a:solidFill>
            <a:prstDash val="solid"/>
          </a:ln>
        </p:spPr>
      </p:sp>
      <p:sp>
        <p:nvSpPr>
          <p:cNvPr id="21" name="Shape 19"/>
          <p:cNvSpPr/>
          <p:nvPr/>
        </p:nvSpPr>
        <p:spPr>
          <a:xfrm>
            <a:off x="8997696" y="2194560"/>
            <a:ext cx="2606040" cy="2743200"/>
          </a:xfrm>
          <a:prstGeom prst="roundRect">
            <a:avLst>
              <a:gd name="adj" fmla="val 4211"/>
            </a:avLst>
          </a:prstGeom>
          <a:solidFill>
            <a:schemeClr val="bg2"/>
          </a:solidFill>
          <a:ln/>
        </p:spPr>
      </p:sp>
      <p:sp>
        <p:nvSpPr>
          <p:cNvPr id="22" name="Text 20"/>
          <p:cNvSpPr txBox="1"/>
          <p:nvPr/>
        </p:nvSpPr>
        <p:spPr>
          <a:xfrm>
            <a:off x="9226296" y="2377440"/>
            <a:ext cx="2148840" cy="365760"/>
          </a:xfrm>
          <a:prstGeom prst="rect">
            <a:avLst/>
          </a:prstGeom>
          <a:noFill/>
          <a:ln/>
        </p:spPr>
        <p:txBody>
          <a:bodyPr wrap="square" lIns="0" tIns="0" rIns="0" bIns="0" rtlCol="0" anchor="t"/>
          <a:lstStyle/>
          <a:p>
            <a:pPr indent="0" marL="0">
              <a:buNone/>
            </a:pPr>
            <a:r>
              <a:rPr lang="en-US" sz="1400" b="1" dirty="0">
                <a:solidFill>
                  <a:schemeClr val="accent4"/>
                </a:solidFill>
              </a:rPr>
              <a:t>28 Sep</a:t>
            </a:r>
            <a:endParaRPr lang="en-US" sz="1400" dirty="0"/>
          </a:p>
        </p:txBody>
      </p:sp>
      <p:sp>
        <p:nvSpPr>
          <p:cNvPr id="23" name="Text 21"/>
          <p:cNvSpPr txBox="1"/>
          <p:nvPr/>
        </p:nvSpPr>
        <p:spPr>
          <a:xfrm>
            <a:off x="9226296" y="2743200"/>
            <a:ext cx="2148840" cy="685800"/>
          </a:xfrm>
          <a:prstGeom prst="rect">
            <a:avLst/>
          </a:prstGeom>
          <a:noFill/>
          <a:ln/>
        </p:spPr>
        <p:txBody>
          <a:bodyPr wrap="square" lIns="0" tIns="0" rIns="0" bIns="0" rtlCol="0" anchor="t"/>
          <a:lstStyle/>
          <a:p>
            <a:pPr indent="0" marL="0">
              <a:buNone/>
            </a:pPr>
            <a:r>
              <a:rPr lang="en-US" sz="1800" b="1" dirty="0">
                <a:solidFill>
                  <a:schemeClr val="tx2"/>
                </a:solidFill>
              </a:rPr>
              <a:t>Full release</a:t>
            </a:r>
            <a:endParaRPr lang="en-US" sz="1800" dirty="0"/>
          </a:p>
        </p:txBody>
      </p:sp>
      <p:sp>
        <p:nvSpPr>
          <p:cNvPr id="24" name="Text 22"/>
          <p:cNvSpPr txBox="1"/>
          <p:nvPr/>
        </p:nvSpPr>
        <p:spPr>
          <a:xfrm>
            <a:off x="9226296" y="3429000"/>
            <a:ext cx="2148840" cy="1097280"/>
          </a:xfrm>
          <a:prstGeom prst="rect">
            <a:avLst/>
          </a:prstGeom>
          <a:noFill/>
          <a:ln/>
        </p:spPr>
        <p:txBody>
          <a:bodyPr wrap="square" lIns="0" tIns="0" rIns="0" bIns="0" rtlCol="0" anchor="t"/>
          <a:lstStyle/>
          <a:p>
            <a:pPr indent="0" marL="0">
              <a:buNone/>
            </a:pPr>
            <a:r>
              <a:rPr lang="en-US" sz="1400" dirty="0">
                <a:solidFill>
                  <a:schemeClr val="tx1"/>
                </a:solidFill>
              </a:rPr>
              <a:t>Plus routed tasks for Pranav and Ayush</a:t>
            </a:r>
            <a:endParaRPr lang="en-US" sz="1400" dirty="0"/>
          </a:p>
        </p:txBody>
      </p:sp>
      <p:sp>
        <p:nvSpPr>
          <p:cNvPr id="25" name="Shape 23"/>
          <p:cNvSpPr/>
          <p:nvPr/>
        </p:nvSpPr>
        <p:spPr>
          <a:xfrm>
            <a:off x="548640" y="5212080"/>
            <a:ext cx="11064240" cy="960120"/>
          </a:xfrm>
          <a:prstGeom prst="roundRect">
            <a:avLst>
              <a:gd name="adj" fmla="val 11429"/>
            </a:avLst>
          </a:prstGeom>
          <a:solidFill>
            <a:schemeClr val="bg2"/>
          </a:solidFill>
          <a:ln/>
        </p:spPr>
      </p:sp>
      <p:sp>
        <p:nvSpPr>
          <p:cNvPr id="26" name="Text 24"/>
          <p:cNvSpPr txBox="1"/>
          <p:nvPr/>
        </p:nvSpPr>
        <p:spPr>
          <a:xfrm>
            <a:off x="822960" y="5349240"/>
            <a:ext cx="10515600" cy="685800"/>
          </a:xfrm>
          <a:prstGeom prst="rect">
            <a:avLst/>
          </a:prstGeom>
          <a:noFill/>
          <a:ln/>
        </p:spPr>
        <p:txBody>
          <a:bodyPr wrap="square" lIns="0" tIns="0" rIns="0" bIns="0" rtlCol="0" anchor="ctr"/>
          <a:lstStyle/>
          <a:p>
            <a:pPr indent="0" marL="0">
              <a:buNone/>
            </a:pPr>
            <a:r>
              <a:rPr lang="en-US" sz="1500" b="1" dirty="0">
                <a:solidFill>
                  <a:schemeClr val="accent1"/>
                </a:solidFill>
              </a:rPr>
              <a:t>Next after MVP: </a:t>
            </a:r>
            <a:pPr indent="0" marL="0">
              <a:buNone/>
            </a:pPr>
            <a:r>
              <a:rPr lang="en-US" sz="1500" dirty="0">
                <a:solidFill>
                  <a:schemeClr val="tx1"/>
                </a:solidFill>
              </a:rPr>
              <a:t>voice or text quick capture from a phone after a call, the most-requested gap (“by the time I'm at a laptop it's gone”).</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28016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Next: closed beta with Bhavin, 3 Aug</a:t>
            </a:r>
            <a:endParaRPr lang="en-US" sz="4400" dirty="0"/>
          </a:p>
        </p:txBody>
      </p:sp>
      <p:sp>
        <p:nvSpPr>
          <p:cNvPr id="3" name="Text 0"/>
          <p:cNvSpPr/>
          <p:nvPr>
            <p:ph idx="101" type="body" hasCustomPrompt="1"/>
          </p:nvPr>
        </p:nvSpPr>
        <p:spPr>
          <a:xfrm>
            <a:off x="731520" y="3291840"/>
            <a:ext cx="10698480" cy="1463040"/>
          </a:xfrm>
          <a:prstGeom prst="rect">
            <a:avLst/>
          </a:prstGeom>
          <a:noFill/>
          <a:ln/>
        </p:spPr>
        <p:txBody>
          <a:bodyPr wrap="square" lIns="0" tIns="0" rIns="0" bIns="0" rtlCol="0" anchor="t"/>
          <a:lstStyle/>
          <a:p>
            <a:pPr algn="l" marL="342900" indent="-342900">
              <a:buSzPct val="100000"/>
              <a:buChar char="•"/>
            </a:pPr>
            <a:r>
              <a:rPr lang="en-US" sz="2400" dirty="0">
                <a:solidFill>
                  <a:schemeClr val="bg2"/>
                </a:solidFill>
                <a:latin typeface="Calibri" pitchFamily="34" charset="0"/>
                <a:ea typeface="Calibri" pitchFamily="34" charset="-122"/>
                <a:cs typeface="Calibri" pitchFamily="34" charset="-120"/>
              </a:rPr>
              <a:t>Approve read-only mailbox access for one seller</a:t>
            </a:r>
            <a:endParaRPr lang="en-US" sz="2400" dirty="0"/>
          </a:p>
          <a:p>
            <a:pPr algn="l" marL="342900" indent="-342900">
              <a:buSzPct val="100000"/>
              <a:buChar char="•"/>
            </a:pPr>
            <a:r>
              <a:rPr lang="en-US" sz="2400" dirty="0">
                <a:solidFill>
                  <a:schemeClr val="bg2"/>
                </a:solidFill>
                <a:latin typeface="Calibri" pitchFamily="34" charset="0"/>
                <a:ea typeface="Calibri" pitchFamily="34" charset="-122"/>
                <a:cs typeface="Calibri" pitchFamily="34" charset="-120"/>
              </a:rPr>
              <a:t>Two weeks in shadow mode: nothing is written or sent</a:t>
            </a:r>
            <a:endParaRPr lang="en-US" sz="2400" dirty="0"/>
          </a:p>
          <a:p>
            <a:pPr algn="l" marL="342900" indent="-342900">
              <a:buSzPct val="100000"/>
              <a:buChar char="•"/>
            </a:pPr>
            <a:r>
              <a:rPr lang="en-US" sz="2400" dirty="0">
                <a:solidFill>
                  <a:schemeClr val="bg2"/>
                </a:solidFill>
                <a:latin typeface="Calibri" pitchFamily="34" charset="0"/>
                <a:ea typeface="Calibri" pitchFamily="34" charset="-122"/>
                <a:cs typeface="Calibri" pitchFamily="34" charset="-120"/>
              </a:rPr>
              <a:t>Decide on rollout with the eval and North Star data</a:t>
            </a:r>
            <a:endParaRPr lang="en-US" sz="2400" dirty="0"/>
          </a:p>
        </p:txBody>
      </p:sp>
      <p:sp>
        <p:nvSpPr>
          <p:cNvPr id="4" name="Text 2"/>
          <p:cNvSpPr txBox="1"/>
          <p:nvPr/>
        </p:nvSpPr>
        <p:spPr>
          <a:xfrm>
            <a:off x="731520" y="5760720"/>
            <a:ext cx="10698480" cy="365760"/>
          </a:xfrm>
          <a:prstGeom prst="rect">
            <a:avLst/>
          </a:prstGeom>
          <a:noFill/>
          <a:ln/>
        </p:spPr>
        <p:txBody>
          <a:bodyPr wrap="square" lIns="0" tIns="0" rIns="0" bIns="0" rtlCol="0" anchor="t"/>
          <a:lstStyle/>
          <a:p>
            <a:pPr indent="0" marL="0">
              <a:buNone/>
            </a:pPr>
            <a:r>
              <a:rPr lang="en-US" sz="1600" b="1" dirty="0">
                <a:solidFill>
                  <a:schemeClr val="accent2"/>
                </a:solidFill>
              </a:rPr>
              <a:t>Try it: atliq-sales-and-crm-assistant.vercel.app</a:t>
            </a:r>
            <a:endParaRPr lang="en-US" sz="1600" dirty="0"/>
          </a:p>
        </p:txBody>
      </p:sp>
    </p:spTree>
  </p:cSld>
  <p:clrMapOvr>
    <a:masterClrMapping/>
  </p:clrMapOvr>
</p:sld>
</file>

<file path=ppt/theme/theme1.xml><?xml version="1.0" encoding="utf-8"?>
<a:theme xmlns:a="http://schemas.openxmlformats.org/drawingml/2006/main" name="AtliQ Sales and CRM Assistant">
  <a:themeElements>
    <a:clrScheme name="AtliQ Sales and CRM Assistant">
      <a:dk1>
        <a:srgbClr val="1D2B30"/>
      </a:dk1>
      <a:lt1>
        <a:srgbClr val="FFFFFF"/>
      </a:lt1>
      <a:dk2>
        <a:srgbClr val="14424C"/>
      </a:dk2>
      <a:lt2>
        <a:srgbClr val="EEF3F2"/>
      </a:lt2>
      <a:accent1>
        <a:srgbClr val="0F766E"/>
      </a:accent1>
      <a:accent2>
        <a:srgbClr val="E8A33D"/>
      </a:accent2>
      <a:accent3>
        <a:srgbClr val="C2463F"/>
      </a:accent3>
      <a:accent4>
        <a:srgbClr val="5B7C99"/>
      </a:accent4>
      <a:accent5>
        <a:srgbClr val="7A9E7E"/>
      </a:accent5>
      <a:accent6>
        <a:srgbClr val="8A6FB0"/>
      </a:accent6>
      <a:hlink>
        <a:srgbClr val="0F766E"/>
      </a:hlink>
      <a:folHlink>
        <a:srgbClr val="5B7C99"/>
      </a:folHlink>
    </a:clrScheme>
    <a:fontScheme name="AtliQ Sales and CRM Assista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AtliQ Sales and CRM Assistant</dc:title>
  <dc:subject>Capstone 1, Step 6 presentation</dc:subject>
  <dc:creator>Ashokkumar</dc:creator>
  <cp:lastModifiedBy>Ashokkumar</cp:lastModifiedBy>
  <cp:revision>1</cp:revision>
  <dcterms:created xsi:type="dcterms:W3CDTF">2026-10-08T10:01:01Z</dcterms:created>
  <dcterms:modified xsi:type="dcterms:W3CDTF">2026-10-08T10:01:01Z</dcterms:modified>
</cp:coreProperties>
</file>